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F5E"/>
        </a:solidFill>
        <a:effectLst/>
      </p:bgPr>
    </p:bg>
    <p:spTree>
      <p:nvGrpSpPr>
        <p:cNvPr id="1" name=""/>
        <p:cNvGrpSpPr/>
        <p:nvPr/>
      </p:nvGrpSpPr>
      <p:grpSpPr/>
      <p:sp>
        <p:nvSpPr>
          <p:cNvPr id="2" name="Rectangle 1"/>
          <p:cNvSpPr/>
          <p:nvPr/>
        </p:nvSpPr>
        <p:spPr>
          <a:xfrm>
            <a:off x="0" y="2011680"/>
            <a:ext cx="12188952" cy="2834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0"/>
            <a:ext cx="228600" cy="283464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48840"/>
            <a:ext cx="11430000" cy="1005840"/>
          </a:xfrm>
          <a:prstGeom prst="rect">
            <a:avLst/>
          </a:prstGeom>
          <a:noFill/>
        </p:spPr>
        <p:txBody>
          <a:bodyPr wrap="square">
            <a:spAutoFit/>
          </a:bodyPr>
          <a:lstStyle/>
          <a:p>
            <a:pPr algn="l"/>
            <a:r>
              <a:rPr sz="4000" b="1" i="0">
                <a:solidFill>
                  <a:srgbClr val="FFFFFF"/>
                </a:solidFill>
                <a:latin typeface="游ゴシック"/>
              </a:rPr>
              <a:t>課題データ集計・分析レポート</a:t>
            </a:r>
          </a:p>
        </p:txBody>
      </p:sp>
      <p:sp>
        <p:nvSpPr>
          <p:cNvPr id="5" name="TextBox 4"/>
          <p:cNvSpPr txBox="1"/>
          <p:nvPr/>
        </p:nvSpPr>
        <p:spPr>
          <a:xfrm>
            <a:off x="457200" y="3154680"/>
            <a:ext cx="10972800" cy="502920"/>
          </a:xfrm>
          <a:prstGeom prst="rect">
            <a:avLst/>
          </a:prstGeom>
          <a:noFill/>
        </p:spPr>
        <p:txBody>
          <a:bodyPr wrap="square">
            <a:spAutoFit/>
          </a:bodyPr>
          <a:lstStyle/>
          <a:p>
            <a:pPr algn="l"/>
            <a:r>
              <a:rPr sz="1800" b="0" i="0">
                <a:solidFill>
                  <a:srgbClr val="D6E4F7"/>
                </a:solidFill>
                <a:latin typeface="游ゴシック"/>
              </a:rPr>
              <a:t>課題2（個人別スコア推移）／ 課題3（所属別パフォーマンス）</a:t>
            </a:r>
          </a:p>
        </p:txBody>
      </p:sp>
      <p:sp>
        <p:nvSpPr>
          <p:cNvPr id="6" name="TextBox 5"/>
          <p:cNvSpPr txBox="1"/>
          <p:nvPr/>
        </p:nvSpPr>
        <p:spPr>
          <a:xfrm>
            <a:off x="457200" y="3703320"/>
            <a:ext cx="9144000" cy="411480"/>
          </a:xfrm>
          <a:prstGeom prst="rect">
            <a:avLst/>
          </a:prstGeom>
          <a:noFill/>
        </p:spPr>
        <p:txBody>
          <a:bodyPr wrap="square">
            <a:spAutoFit/>
          </a:bodyPr>
          <a:lstStyle/>
          <a:p>
            <a:pPr algn="l"/>
            <a:r>
              <a:rPr sz="1400" b="0" i="0">
                <a:solidFill>
                  <a:srgbClr val="D6E4F7"/>
                </a:solidFill>
                <a:latin typeface="游ゴシック"/>
              </a:rPr>
              <a:t>2024年9月　マーケティング観点分析</a:t>
            </a:r>
          </a:p>
        </p:txBody>
      </p:sp>
      <p:sp>
        <p:nvSpPr>
          <p:cNvPr id="7" name="Rectangle 6"/>
          <p:cNvSpPr/>
          <p:nvPr/>
        </p:nvSpPr>
        <p:spPr>
          <a:xfrm>
            <a:off x="0" y="6217920"/>
            <a:ext cx="12188952" cy="640080"/>
          </a:xfrm>
          <a:prstGeom prst="rect">
            <a:avLst/>
          </a:prstGeom>
          <a:solidFill>
            <a:srgbClr val="0F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263640"/>
            <a:ext cx="10972800" cy="411480"/>
          </a:xfrm>
          <a:prstGeom prst="rect">
            <a:avLst/>
          </a:prstGeom>
          <a:noFill/>
        </p:spPr>
        <p:txBody>
          <a:bodyPr wrap="square">
            <a:spAutoFit/>
          </a:bodyPr>
          <a:lstStyle/>
          <a:p>
            <a:pPr algn="r"/>
            <a:r>
              <a:rPr sz="1200" b="0" i="0">
                <a:solidFill>
                  <a:srgbClr val="888888"/>
                </a:solidFill>
                <a:latin typeface="游ゴシック"/>
              </a:rPr>
              <a:t>CONFIDENTIAL　／　社内資料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エグゼクティブサマリー</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両課題の主要インサイト一覧</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2286000" cy="1005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70432"/>
            <a:ext cx="2148840" cy="365760"/>
          </a:xfrm>
          <a:prstGeom prst="rect">
            <a:avLst/>
          </a:prstGeom>
          <a:noFill/>
        </p:spPr>
        <p:txBody>
          <a:bodyPr wrap="square">
            <a:spAutoFit/>
          </a:bodyPr>
          <a:lstStyle/>
          <a:p>
            <a:pPr algn="l"/>
            <a:r>
              <a:rPr sz="1100" b="0" i="0">
                <a:solidFill>
                  <a:srgbClr val="888888"/>
                </a:solidFill>
                <a:latin typeface="游ゴシック"/>
              </a:rPr>
              <a:t>分析対象者数（課題3・会社）</a:t>
            </a:r>
          </a:p>
        </p:txBody>
      </p:sp>
      <p:sp>
        <p:nvSpPr>
          <p:cNvPr id="9" name="TextBox 8"/>
          <p:cNvSpPr txBox="1"/>
          <p:nvPr/>
        </p:nvSpPr>
        <p:spPr>
          <a:xfrm>
            <a:off x="365760" y="1508760"/>
            <a:ext cx="2148840" cy="548640"/>
          </a:xfrm>
          <a:prstGeom prst="rect">
            <a:avLst/>
          </a:prstGeom>
          <a:noFill/>
        </p:spPr>
        <p:txBody>
          <a:bodyPr wrap="square">
            <a:spAutoFit/>
          </a:bodyPr>
          <a:lstStyle/>
          <a:p>
            <a:pPr algn="l"/>
            <a:r>
              <a:rPr sz="2000" b="1" i="0">
                <a:solidFill>
                  <a:srgbClr val="1A2F5E"/>
                </a:solidFill>
                <a:latin typeface="游ゴシック"/>
              </a:rPr>
              <a:t>35名</a:t>
            </a:r>
          </a:p>
        </p:txBody>
      </p:sp>
      <p:sp>
        <p:nvSpPr>
          <p:cNvPr id="10" name="Rectangle 9"/>
          <p:cNvSpPr/>
          <p:nvPr/>
        </p:nvSpPr>
        <p:spPr>
          <a:xfrm>
            <a:off x="2697480" y="1097280"/>
            <a:ext cx="2286000" cy="1005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170432"/>
            <a:ext cx="2148840" cy="365760"/>
          </a:xfrm>
          <a:prstGeom prst="rect">
            <a:avLst/>
          </a:prstGeom>
          <a:noFill/>
        </p:spPr>
        <p:txBody>
          <a:bodyPr wrap="square">
            <a:spAutoFit/>
          </a:bodyPr>
          <a:lstStyle/>
          <a:p>
            <a:pPr algn="l"/>
            <a:r>
              <a:rPr sz="1100" b="0" i="0">
                <a:solidFill>
                  <a:srgbClr val="888888"/>
                </a:solidFill>
                <a:latin typeface="游ゴシック"/>
              </a:rPr>
              <a:t>全体平均スコア（課題3・会社）</a:t>
            </a:r>
          </a:p>
        </p:txBody>
      </p:sp>
      <p:sp>
        <p:nvSpPr>
          <p:cNvPr id="12" name="TextBox 11"/>
          <p:cNvSpPr txBox="1"/>
          <p:nvPr/>
        </p:nvSpPr>
        <p:spPr>
          <a:xfrm>
            <a:off x="2788920" y="1508760"/>
            <a:ext cx="2148840" cy="548640"/>
          </a:xfrm>
          <a:prstGeom prst="rect">
            <a:avLst/>
          </a:prstGeom>
          <a:noFill/>
        </p:spPr>
        <p:txBody>
          <a:bodyPr wrap="square">
            <a:spAutoFit/>
          </a:bodyPr>
          <a:lstStyle/>
          <a:p>
            <a:pPr algn="l"/>
            <a:r>
              <a:rPr sz="2000" b="1" i="0">
                <a:solidFill>
                  <a:srgbClr val="1A2F5E"/>
                </a:solidFill>
                <a:latin typeface="游ゴシック"/>
              </a:rPr>
              <a:t>84.9点</a:t>
            </a:r>
          </a:p>
        </p:txBody>
      </p:sp>
      <p:sp>
        <p:nvSpPr>
          <p:cNvPr id="13" name="Rectangle 12"/>
          <p:cNvSpPr/>
          <p:nvPr/>
        </p:nvSpPr>
        <p:spPr>
          <a:xfrm>
            <a:off x="5120640" y="1097280"/>
            <a:ext cx="2286000" cy="1005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79" y="1170432"/>
            <a:ext cx="2148840" cy="365760"/>
          </a:xfrm>
          <a:prstGeom prst="rect">
            <a:avLst/>
          </a:prstGeom>
          <a:noFill/>
        </p:spPr>
        <p:txBody>
          <a:bodyPr wrap="square">
            <a:spAutoFit/>
          </a:bodyPr>
          <a:lstStyle/>
          <a:p>
            <a:pPr algn="l"/>
            <a:r>
              <a:rPr sz="1100" b="0" i="0">
                <a:solidFill>
                  <a:srgbClr val="888888"/>
                </a:solidFill>
                <a:latin typeface="游ゴシック"/>
              </a:rPr>
              <a:t>分析対象者数（課題2・学校）</a:t>
            </a:r>
          </a:p>
        </p:txBody>
      </p:sp>
      <p:sp>
        <p:nvSpPr>
          <p:cNvPr id="15" name="TextBox 14"/>
          <p:cNvSpPr txBox="1"/>
          <p:nvPr/>
        </p:nvSpPr>
        <p:spPr>
          <a:xfrm>
            <a:off x="5212079" y="1508760"/>
            <a:ext cx="2148840" cy="548640"/>
          </a:xfrm>
          <a:prstGeom prst="rect">
            <a:avLst/>
          </a:prstGeom>
          <a:noFill/>
        </p:spPr>
        <p:txBody>
          <a:bodyPr wrap="square">
            <a:spAutoFit/>
          </a:bodyPr>
          <a:lstStyle/>
          <a:p>
            <a:pPr algn="l"/>
            <a:r>
              <a:rPr sz="2000" b="1" i="0">
                <a:solidFill>
                  <a:srgbClr val="1A2F5E"/>
                </a:solidFill>
                <a:latin typeface="游ゴシック"/>
              </a:rPr>
              <a:t>5名</a:t>
            </a:r>
          </a:p>
        </p:txBody>
      </p:sp>
      <p:sp>
        <p:nvSpPr>
          <p:cNvPr id="16" name="Rectangle 15"/>
          <p:cNvSpPr/>
          <p:nvPr/>
        </p:nvSpPr>
        <p:spPr>
          <a:xfrm>
            <a:off x="7543800" y="1097280"/>
            <a:ext cx="2286000" cy="1005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1170432"/>
            <a:ext cx="2148840" cy="365760"/>
          </a:xfrm>
          <a:prstGeom prst="rect">
            <a:avLst/>
          </a:prstGeom>
          <a:noFill/>
        </p:spPr>
        <p:txBody>
          <a:bodyPr wrap="square">
            <a:spAutoFit/>
          </a:bodyPr>
          <a:lstStyle/>
          <a:p>
            <a:pPr algn="l"/>
            <a:r>
              <a:rPr sz="1100" b="0" i="0">
                <a:solidFill>
                  <a:srgbClr val="888888"/>
                </a:solidFill>
                <a:latin typeface="游ゴシック"/>
              </a:rPr>
              <a:t>期間中の全体成長幅</a:t>
            </a:r>
          </a:p>
        </p:txBody>
      </p:sp>
      <p:sp>
        <p:nvSpPr>
          <p:cNvPr id="18" name="TextBox 17"/>
          <p:cNvSpPr txBox="1"/>
          <p:nvPr/>
        </p:nvSpPr>
        <p:spPr>
          <a:xfrm>
            <a:off x="7635240" y="1508760"/>
            <a:ext cx="2148840" cy="548640"/>
          </a:xfrm>
          <a:prstGeom prst="rect">
            <a:avLst/>
          </a:prstGeom>
          <a:noFill/>
        </p:spPr>
        <p:txBody>
          <a:bodyPr wrap="square">
            <a:spAutoFit/>
          </a:bodyPr>
          <a:lstStyle/>
          <a:p>
            <a:pPr algn="l"/>
            <a:r>
              <a:rPr sz="2000" b="1" i="0">
                <a:solidFill>
                  <a:srgbClr val="1A2F5E"/>
                </a:solidFill>
                <a:latin typeface="游ゴシック"/>
              </a:rPr>
              <a:t>+9.4点</a:t>
            </a:r>
          </a:p>
        </p:txBody>
      </p:sp>
      <p:sp>
        <p:nvSpPr>
          <p:cNvPr id="19" name="Rectangle 18"/>
          <p:cNvSpPr/>
          <p:nvPr/>
        </p:nvSpPr>
        <p:spPr>
          <a:xfrm>
            <a:off x="9966960" y="1097280"/>
            <a:ext cx="2286000" cy="1005840"/>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0" y="1170432"/>
            <a:ext cx="2148840" cy="365760"/>
          </a:xfrm>
          <a:prstGeom prst="rect">
            <a:avLst/>
          </a:prstGeom>
          <a:noFill/>
        </p:spPr>
        <p:txBody>
          <a:bodyPr wrap="square">
            <a:spAutoFit/>
          </a:bodyPr>
          <a:lstStyle/>
          <a:p>
            <a:pPr algn="l"/>
            <a:r>
              <a:rPr sz="1100" b="0" i="0">
                <a:solidFill>
                  <a:srgbClr val="888888"/>
                </a:solidFill>
                <a:latin typeface="游ゴシック"/>
              </a:rPr>
              <a:t>最大成長者</a:t>
            </a:r>
          </a:p>
        </p:txBody>
      </p:sp>
      <p:sp>
        <p:nvSpPr>
          <p:cNvPr id="21" name="TextBox 20"/>
          <p:cNvSpPr txBox="1"/>
          <p:nvPr/>
        </p:nvSpPr>
        <p:spPr>
          <a:xfrm>
            <a:off x="10058400" y="1508760"/>
            <a:ext cx="2148840" cy="548640"/>
          </a:xfrm>
          <a:prstGeom prst="rect">
            <a:avLst/>
          </a:prstGeom>
          <a:noFill/>
        </p:spPr>
        <p:txBody>
          <a:bodyPr wrap="square">
            <a:spAutoFit/>
          </a:bodyPr>
          <a:lstStyle/>
          <a:p>
            <a:pPr algn="l"/>
            <a:r>
              <a:rPr sz="2000" b="1" i="0">
                <a:solidFill>
                  <a:srgbClr val="1E7A45"/>
                </a:solidFill>
                <a:latin typeface="游ゴシック"/>
              </a:rPr>
              <a:t>田中一郎 +9.3点</a:t>
            </a:r>
          </a:p>
        </p:txBody>
      </p:sp>
      <p:sp>
        <p:nvSpPr>
          <p:cNvPr id="22" name="TextBox 21"/>
          <p:cNvSpPr txBox="1"/>
          <p:nvPr/>
        </p:nvSpPr>
        <p:spPr>
          <a:xfrm>
            <a:off x="274320" y="2212848"/>
            <a:ext cx="11612880" cy="4206240"/>
          </a:xfrm>
          <a:prstGeom prst="rect">
            <a:avLst/>
          </a:prstGeom>
          <a:noFill/>
        </p:spPr>
        <p:txBody>
          <a:bodyPr wrap="square">
            <a:spAutoFit/>
          </a:bodyPr>
          <a:lstStyle/>
          <a:p>
            <a:pPr algn="l">
              <a:spcAft>
                <a:spcPts val="300"/>
              </a:spcAft>
            </a:pPr>
            <a:r>
              <a:rPr sz="1200" b="1">
                <a:solidFill>
                  <a:srgbClr val="1A2F5E"/>
                </a:solidFill>
                <a:latin typeface="游ゴシック"/>
              </a:rPr>
              <a:t>【課題3：会社データ｜所属別パフォーマンス】</a:t>
            </a:r>
          </a:p>
          <a:p>
            <a:pPr algn="l">
              <a:spcAft>
                <a:spcPts val="300"/>
              </a:spcAft>
            </a:pPr>
            <a:r>
              <a:rPr sz="1200" b="0">
                <a:solidFill>
                  <a:srgbClr val="444444"/>
                </a:solidFill>
                <a:latin typeface="游ゴシック"/>
              </a:rPr>
              <a:t>▶  開発部門が平均88.9点・ハイパフォーマー率40%でトップ。管理部門も87.1点と安定しており、</a:t>
            </a:r>
          </a:p>
          <a:p>
            <a:pPr algn="l">
              <a:spcAft>
                <a:spcPts val="300"/>
              </a:spcAft>
            </a:pPr>
            <a:r>
              <a:rPr sz="1200" b="0">
                <a:solidFill>
                  <a:srgbClr val="444444"/>
                </a:solidFill>
                <a:latin typeface="游ゴシック"/>
              </a:rPr>
              <a:t>    両部門のベストプラクティスを組織全体に横展開することで底上げが期待できる。</a:t>
            </a:r>
          </a:p>
          <a:p>
            <a:pPr algn="l">
              <a:spcAft>
                <a:spcPts val="300"/>
              </a:spcAft>
            </a:pPr>
            <a:r>
              <a:rPr sz="1200" b="0">
                <a:solidFill>
                  <a:srgbClr val="444444"/>
                </a:solidFill>
                <a:latin typeface="游ゴシック"/>
              </a:rPr>
              <a:t>▶  人事部門は平均79.3点（全体比-5.6点）・ハイパフォーマー0名。標準偏差わずか2.29と</a:t>
            </a:r>
          </a:p>
          <a:p>
            <a:pPr algn="l">
              <a:spcAft>
                <a:spcPts val="300"/>
              </a:spcAft>
            </a:pPr>
            <a:r>
              <a:rPr sz="1200" b="0">
                <a:solidFill>
                  <a:srgbClr val="444444"/>
                </a:solidFill>
                <a:latin typeface="游ゴシック"/>
              </a:rPr>
              <a:t>    全員が低水準に均質化しており、採用・組織力全体のボトルネックになっている。</a:t>
            </a:r>
          </a:p>
          <a:p>
            <a:pPr algn="l">
              <a:spcAft>
                <a:spcPts val="300"/>
              </a:spcAft>
            </a:pPr>
            <a:r>
              <a:rPr sz="1200" b="0">
                <a:solidFill>
                  <a:srgbClr val="444444"/>
                </a:solidFill>
                <a:latin typeface="游ゴシック"/>
              </a:rPr>
              <a:t>▶  営業部門は平均83点だが標準偏差7.48と最大のばらつき。個人依存の構造が顕著。</a:t>
            </a:r>
          </a:p>
          <a:p>
            <a:pPr algn="l">
              <a:spcAft>
                <a:spcPts val="300"/>
              </a:spcAft>
            </a:pPr>
            <a:r>
              <a:rPr sz="1200" b="0">
                <a:solidFill>
                  <a:srgbClr val="444444"/>
                </a:solidFill>
                <a:latin typeface="游ゴシック"/>
              </a:rPr>
              <a:t/>
            </a:r>
          </a:p>
          <a:p>
            <a:pPr algn="l">
              <a:spcAft>
                <a:spcPts val="300"/>
              </a:spcAft>
            </a:pPr>
            <a:r>
              <a:rPr sz="1200" b="1">
                <a:solidFill>
                  <a:srgbClr val="1A2F5E"/>
                </a:solidFill>
                <a:latin typeface="游ゴシック"/>
              </a:rPr>
              <a:t>【課題2：学校データ｜科目別スコア推移】</a:t>
            </a:r>
          </a:p>
          <a:p>
            <a:pPr algn="l">
              <a:spcAft>
                <a:spcPts val="300"/>
              </a:spcAft>
            </a:pPr>
            <a:r>
              <a:rPr sz="1200" b="0">
                <a:solidFill>
                  <a:srgbClr val="444444"/>
                </a:solidFill>
                <a:latin typeface="游ゴシック"/>
              </a:rPr>
              <a:t>▶  全体平均は5日間で80.3点→89.8点（+9.5点）と右肩上がり。研修効果が明確に確認できる。</a:t>
            </a:r>
          </a:p>
          <a:p>
            <a:pPr algn="l">
              <a:spcAft>
                <a:spcPts val="300"/>
              </a:spcAft>
            </a:pPr>
            <a:r>
              <a:rPr sz="1200" b="0">
                <a:solidFill>
                  <a:srgbClr val="444444"/>
                </a:solidFill>
                <a:latin typeface="游ゴシック"/>
              </a:rPr>
              <a:t>▶  田中一郎（+9.3点）が最大の伸びを示し、投資対効果が最も高い人材と判断できる。</a:t>
            </a:r>
          </a:p>
          <a:p>
            <a:pPr algn="l">
              <a:spcAft>
                <a:spcPts val="300"/>
              </a:spcAft>
            </a:pPr>
            <a:r>
              <a:rPr sz="1200" b="0">
                <a:solidFill>
                  <a:srgbClr val="444444"/>
                </a:solidFill>
                <a:latin typeface="游ゴシック"/>
              </a:rPr>
              <a:t>▶  高橋花子は初日から92点超の高水準だが後半に-2点の微減。天井効果・学習疲れの兆候あり。</a:t>
            </a:r>
          </a:p>
          <a:p>
            <a:pPr algn="l">
              <a:spcAft>
                <a:spcPts val="300"/>
              </a:spcAft>
            </a:pPr>
            <a:r>
              <a:rPr sz="1200" b="0">
                <a:solidFill>
                  <a:srgbClr val="444444"/>
                </a:solidFill>
                <a:latin typeface="游ゴシック"/>
              </a:rPr>
              <a:t>▶  佐藤次郎は国語65点・社会68点と特定科目に集中した弱点があり、個別フォローで底上げ可能。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2F5E"/>
        </a:solidFill>
        <a:effectLst/>
      </p:bgPr>
    </p:bg>
    <p:spTree>
      <p:nvGrpSpPr>
        <p:cNvPr id="1" name=""/>
        <p:cNvGrpSpPr/>
        <p:nvPr/>
      </p:nvGrpSpPr>
      <p:grpSpPr/>
      <p:sp>
        <p:nvSpPr>
          <p:cNvPr id="2" name="Rectangle 1"/>
          <p:cNvSpPr/>
          <p:nvPr/>
        </p:nvSpPr>
        <p:spPr>
          <a:xfrm>
            <a:off x="0" y="2560320"/>
            <a:ext cx="12188952" cy="20116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274320" cy="20116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06040"/>
            <a:ext cx="10972800" cy="502920"/>
          </a:xfrm>
          <a:prstGeom prst="rect">
            <a:avLst/>
          </a:prstGeom>
          <a:noFill/>
        </p:spPr>
        <p:txBody>
          <a:bodyPr wrap="square">
            <a:spAutoFit/>
          </a:bodyPr>
          <a:lstStyle/>
          <a:p>
            <a:pPr algn="l"/>
            <a:r>
              <a:rPr sz="1800" b="0" i="0">
                <a:solidFill>
                  <a:srgbClr val="D6E4F7"/>
                </a:solidFill>
                <a:latin typeface="游ゴシック"/>
              </a:rPr>
              <a:t>課題３</a:t>
            </a:r>
          </a:p>
        </p:txBody>
      </p:sp>
      <p:sp>
        <p:nvSpPr>
          <p:cNvPr id="5" name="TextBox 4"/>
          <p:cNvSpPr txBox="1"/>
          <p:nvPr/>
        </p:nvSpPr>
        <p:spPr>
          <a:xfrm>
            <a:off x="548640" y="3017520"/>
            <a:ext cx="10972800" cy="822960"/>
          </a:xfrm>
          <a:prstGeom prst="rect">
            <a:avLst/>
          </a:prstGeom>
          <a:noFill/>
        </p:spPr>
        <p:txBody>
          <a:bodyPr wrap="square">
            <a:spAutoFit/>
          </a:bodyPr>
          <a:lstStyle/>
          <a:p>
            <a:pPr algn="l"/>
            <a:r>
              <a:rPr sz="3400" b="1" i="0">
                <a:solidFill>
                  <a:srgbClr val="FFFFFF"/>
                </a:solidFill>
                <a:latin typeface="游ゴシック"/>
              </a:rPr>
              <a:t>会社データ｜所属別パフォーマンス分析</a:t>
            </a:r>
          </a:p>
        </p:txBody>
      </p:sp>
      <p:sp>
        <p:nvSpPr>
          <p:cNvPr id="6" name="TextBox 5"/>
          <p:cNvSpPr txBox="1"/>
          <p:nvPr/>
        </p:nvSpPr>
        <p:spPr>
          <a:xfrm>
            <a:off x="548640" y="3886200"/>
            <a:ext cx="10972800" cy="502920"/>
          </a:xfrm>
          <a:prstGeom prst="rect">
            <a:avLst/>
          </a:prstGeom>
          <a:noFill/>
        </p:spPr>
        <p:txBody>
          <a:bodyPr wrap="square">
            <a:spAutoFit/>
          </a:bodyPr>
          <a:lstStyle/>
          <a:p>
            <a:pPr algn="l"/>
            <a:r>
              <a:rPr sz="1500" b="0" i="0">
                <a:solidFill>
                  <a:srgbClr val="D6E4F7"/>
                </a:solidFill>
                <a:latin typeface="游ゴシック"/>
              </a:rPr>
              <a:t>部門ごとのスコア分布・強み・課題・リスクを可視化する</a:t>
            </a:r>
          </a:p>
        </p:txBody>
      </p:sp>
      <p:sp>
        <p:nvSpPr>
          <p:cNvPr id="7" name="Rectangle 6"/>
          <p:cNvSpPr/>
          <p:nvPr/>
        </p:nvSpPr>
        <p:spPr>
          <a:xfrm>
            <a:off x="0" y="6217920"/>
            <a:ext cx="12188952" cy="640080"/>
          </a:xfrm>
          <a:prstGeom prst="rect">
            <a:avLst/>
          </a:prstGeom>
          <a:solidFill>
            <a:srgbClr val="0F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課題3｜所属別参加者数（会社データ）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ドーナツ型円グラフ</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ph1_pie.png"/>
          <p:cNvPicPr>
            <a:picLocks noChangeAspect="1"/>
          </p:cNvPicPr>
          <p:nvPr/>
        </p:nvPicPr>
        <p:blipFill>
          <a:blip r:embed="rId2"/>
          <a:stretch>
            <a:fillRect/>
          </a:stretch>
        </p:blipFill>
        <p:spPr>
          <a:xfrm>
            <a:off x="274320" y="1051560"/>
            <a:ext cx="7315200" cy="5349240"/>
          </a:xfrm>
          <a:prstGeom prst="rect">
            <a:avLst/>
          </a:prstGeom>
        </p:spPr>
      </p:pic>
      <p:sp>
        <p:nvSpPr>
          <p:cNvPr id="8" name="Rectangle 7"/>
          <p:cNvSpPr/>
          <p:nvPr/>
        </p:nvSpPr>
        <p:spPr>
          <a:xfrm>
            <a:off x="7772400" y="1051560"/>
            <a:ext cx="4160520" cy="5349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051560"/>
            <a:ext cx="64008" cy="5349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143000"/>
            <a:ext cx="3931920" cy="365760"/>
          </a:xfrm>
          <a:prstGeom prst="rect">
            <a:avLst/>
          </a:prstGeom>
          <a:noFill/>
        </p:spPr>
        <p:txBody>
          <a:bodyPr wrap="square">
            <a:spAutoFit/>
          </a:bodyPr>
          <a:lstStyle/>
          <a:p>
            <a:pPr algn="l"/>
            <a:r>
              <a:rPr sz="1300" b="1" i="0">
                <a:solidFill>
                  <a:srgbClr val="2E75B6"/>
                </a:solidFill>
                <a:latin typeface="游ゴシック"/>
              </a:rPr>
              <a:t>グラフの読み方・ポイント</a:t>
            </a:r>
          </a:p>
        </p:txBody>
      </p:sp>
      <p:sp>
        <p:nvSpPr>
          <p:cNvPr id="11" name="TextBox 10"/>
          <p:cNvSpPr txBox="1"/>
          <p:nvPr/>
        </p:nvSpPr>
        <p:spPr>
          <a:xfrm>
            <a:off x="7936992" y="1554480"/>
            <a:ext cx="3886200" cy="4754879"/>
          </a:xfrm>
          <a:prstGeom prst="rect">
            <a:avLst/>
          </a:prstGeom>
          <a:noFill/>
        </p:spPr>
        <p:txBody>
          <a:bodyPr wrap="square">
            <a:spAutoFit/>
          </a:bodyPr>
          <a:lstStyle/>
          <a:p>
            <a:pPr algn="l">
              <a:spcAft>
                <a:spcPts val="300"/>
              </a:spcAft>
            </a:pPr>
            <a:r>
              <a:rPr sz="1200" b="0">
                <a:solidFill>
                  <a:srgbClr val="444444"/>
                </a:solidFill>
                <a:latin typeface="游ゴシック"/>
              </a:rPr>
              <a:t>■ 参加者構成</a:t>
            </a:r>
          </a:p>
          <a:p>
            <a:pPr algn="l">
              <a:spcAft>
                <a:spcPts val="300"/>
              </a:spcAft>
            </a:pPr>
            <a:r>
              <a:rPr sz="1200" b="0">
                <a:solidFill>
                  <a:srgbClr val="444444"/>
                </a:solidFill>
                <a:latin typeface="游ゴシック"/>
              </a:rPr>
              <a:t>  営業・開発がそれぞれ10名（各29%）</a:t>
            </a:r>
          </a:p>
          <a:p>
            <a:pPr algn="l">
              <a:spcAft>
                <a:spcPts val="300"/>
              </a:spcAft>
            </a:pPr>
            <a:r>
              <a:rPr sz="1200" b="0">
                <a:solidFill>
                  <a:srgbClr val="444444"/>
                </a:solidFill>
                <a:latin typeface="游ゴシック"/>
              </a:rPr>
              <a:t>  管理8名（23%）、人事7名（20%）</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注目点</a:t>
            </a:r>
          </a:p>
          <a:p>
            <a:pPr algn="l">
              <a:spcAft>
                <a:spcPts val="300"/>
              </a:spcAft>
            </a:pPr>
            <a:r>
              <a:rPr sz="1200" b="0">
                <a:solidFill>
                  <a:srgbClr val="444444"/>
                </a:solidFill>
                <a:latin typeface="游ゴシック"/>
              </a:rPr>
              <a:t>  営業・開発で全体の約6割を占める。</a:t>
            </a:r>
          </a:p>
          <a:p>
            <a:pPr algn="l">
              <a:spcAft>
                <a:spcPts val="300"/>
              </a:spcAft>
            </a:pPr>
            <a:r>
              <a:rPr sz="1200" b="0">
                <a:solidFill>
                  <a:srgbClr val="444444"/>
                </a:solidFill>
                <a:latin typeface="游ゴシック"/>
              </a:rPr>
              <a:t>  この2部門のパフォーマンスが</a:t>
            </a:r>
          </a:p>
          <a:p>
            <a:pPr algn="l">
              <a:spcAft>
                <a:spcPts val="300"/>
              </a:spcAft>
            </a:pPr>
            <a:r>
              <a:rPr sz="1200" b="0">
                <a:solidFill>
                  <a:srgbClr val="444444"/>
                </a:solidFill>
                <a:latin typeface="游ゴシック"/>
              </a:rPr>
              <a:t>  組織全体の数値を大きく左右する。</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マーケティング示唆</a:t>
            </a:r>
          </a:p>
          <a:p>
            <a:pPr algn="l">
              <a:spcAft>
                <a:spcPts val="300"/>
              </a:spcAft>
            </a:pPr>
            <a:r>
              <a:rPr sz="1200" b="0">
                <a:solidFill>
                  <a:srgbClr val="444444"/>
                </a:solidFill>
                <a:latin typeface="游ゴシック"/>
              </a:rPr>
              <a:t>  人事は参加者数も最少（7名）。</a:t>
            </a:r>
          </a:p>
          <a:p>
            <a:pPr algn="l">
              <a:spcAft>
                <a:spcPts val="300"/>
              </a:spcAft>
            </a:pPr>
            <a:r>
              <a:rPr sz="1200" b="0">
                <a:solidFill>
                  <a:srgbClr val="444444"/>
                </a:solidFill>
                <a:latin typeface="游ゴシック"/>
              </a:rPr>
              <a:t>  少人数で均質な低スコアという</a:t>
            </a:r>
          </a:p>
          <a:p>
            <a:pPr algn="l">
              <a:spcAft>
                <a:spcPts val="300"/>
              </a:spcAft>
            </a:pPr>
            <a:r>
              <a:rPr sz="1200" b="0">
                <a:solidFill>
                  <a:srgbClr val="444444"/>
                </a:solidFill>
                <a:latin typeface="游ゴシック"/>
              </a:rPr>
              <a:t>  構造は、集団研修より個別介入が</a:t>
            </a:r>
          </a:p>
          <a:p>
            <a:pPr algn="l">
              <a:spcAft>
                <a:spcPts val="300"/>
              </a:spcAft>
            </a:pPr>
            <a:r>
              <a:rPr sz="1200" b="0">
                <a:solidFill>
                  <a:srgbClr val="444444"/>
                </a:solidFill>
                <a:latin typeface="游ゴシック"/>
              </a:rPr>
              <a:t>  効果的であることを示唆する。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課題3｜所属別スコア比較（会社データ）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平均・最高・最低 グループ棒グラフ</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ph2_bar.png"/>
          <p:cNvPicPr>
            <a:picLocks noChangeAspect="1"/>
          </p:cNvPicPr>
          <p:nvPr/>
        </p:nvPicPr>
        <p:blipFill>
          <a:blip r:embed="rId2"/>
          <a:stretch>
            <a:fillRect/>
          </a:stretch>
        </p:blipFill>
        <p:spPr>
          <a:xfrm>
            <a:off x="274320" y="1051560"/>
            <a:ext cx="7315200" cy="5349240"/>
          </a:xfrm>
          <a:prstGeom prst="rect">
            <a:avLst/>
          </a:prstGeom>
        </p:spPr>
      </p:pic>
      <p:sp>
        <p:nvSpPr>
          <p:cNvPr id="8" name="Rectangle 7"/>
          <p:cNvSpPr/>
          <p:nvPr/>
        </p:nvSpPr>
        <p:spPr>
          <a:xfrm>
            <a:off x="7772400" y="1051560"/>
            <a:ext cx="4160520" cy="5349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051560"/>
            <a:ext cx="64008" cy="5349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143000"/>
            <a:ext cx="3931920" cy="365760"/>
          </a:xfrm>
          <a:prstGeom prst="rect">
            <a:avLst/>
          </a:prstGeom>
          <a:noFill/>
        </p:spPr>
        <p:txBody>
          <a:bodyPr wrap="square">
            <a:spAutoFit/>
          </a:bodyPr>
          <a:lstStyle/>
          <a:p>
            <a:pPr algn="l"/>
            <a:r>
              <a:rPr sz="1300" b="1" i="0">
                <a:solidFill>
                  <a:srgbClr val="2E75B6"/>
                </a:solidFill>
                <a:latin typeface="游ゴシック"/>
              </a:rPr>
              <a:t>スコア比較の着眼点</a:t>
            </a:r>
          </a:p>
        </p:txBody>
      </p:sp>
      <p:sp>
        <p:nvSpPr>
          <p:cNvPr id="11" name="TextBox 10"/>
          <p:cNvSpPr txBox="1"/>
          <p:nvPr/>
        </p:nvSpPr>
        <p:spPr>
          <a:xfrm>
            <a:off x="7936992" y="1554480"/>
            <a:ext cx="3886200" cy="4754879"/>
          </a:xfrm>
          <a:prstGeom prst="rect">
            <a:avLst/>
          </a:prstGeom>
          <a:noFill/>
        </p:spPr>
        <p:txBody>
          <a:bodyPr wrap="square">
            <a:spAutoFit/>
          </a:bodyPr>
          <a:lstStyle/>
          <a:p>
            <a:pPr algn="l">
              <a:spcAft>
                <a:spcPts val="300"/>
              </a:spcAft>
            </a:pPr>
            <a:r>
              <a:rPr sz="1200" b="0">
                <a:solidFill>
                  <a:srgbClr val="444444"/>
                </a:solidFill>
                <a:latin typeface="游ゴシック"/>
              </a:rPr>
              <a:t>■ 部門別ランキング（平均）</a:t>
            </a:r>
          </a:p>
          <a:p>
            <a:pPr algn="l">
              <a:spcAft>
                <a:spcPts val="300"/>
              </a:spcAft>
            </a:pPr>
            <a:r>
              <a:rPr sz="1200" b="0">
                <a:solidFill>
                  <a:srgbClr val="444444"/>
                </a:solidFill>
                <a:latin typeface="游ゴシック"/>
              </a:rPr>
              <a:t>  1位 開発   88.9点</a:t>
            </a:r>
          </a:p>
          <a:p>
            <a:pPr algn="l">
              <a:spcAft>
                <a:spcPts val="300"/>
              </a:spcAft>
            </a:pPr>
            <a:r>
              <a:rPr sz="1200" b="0">
                <a:solidFill>
                  <a:srgbClr val="444444"/>
                </a:solidFill>
                <a:latin typeface="游ゴシック"/>
              </a:rPr>
              <a:t>  2位 管理   87.1点</a:t>
            </a:r>
          </a:p>
          <a:p>
            <a:pPr algn="l">
              <a:spcAft>
                <a:spcPts val="300"/>
              </a:spcAft>
            </a:pPr>
            <a:r>
              <a:rPr sz="1200" b="0">
                <a:solidFill>
                  <a:srgbClr val="444444"/>
                </a:solidFill>
                <a:latin typeface="游ゴシック"/>
              </a:rPr>
              <a:t>  3位 営業   83.0点</a:t>
            </a:r>
          </a:p>
          <a:p>
            <a:pPr algn="l">
              <a:spcAft>
                <a:spcPts val="300"/>
              </a:spcAft>
            </a:pPr>
            <a:r>
              <a:rPr sz="1200" b="0">
                <a:solidFill>
                  <a:srgbClr val="444444"/>
                </a:solidFill>
                <a:latin typeface="游ゴシック"/>
              </a:rPr>
              <a:t>  4位 人事   79.3点</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安定性（最高〜最低の差）</a:t>
            </a:r>
          </a:p>
          <a:p>
            <a:pPr algn="l">
              <a:spcAft>
                <a:spcPts val="300"/>
              </a:spcAft>
            </a:pPr>
            <a:r>
              <a:rPr sz="1200" b="0">
                <a:solidFill>
                  <a:srgbClr val="444444"/>
                </a:solidFill>
                <a:latin typeface="游ゴシック"/>
              </a:rPr>
              <a:t>  開発：94-82 ＝ 12点差（安定）</a:t>
            </a:r>
          </a:p>
          <a:p>
            <a:pPr algn="l">
              <a:spcAft>
                <a:spcPts val="300"/>
              </a:spcAft>
            </a:pPr>
            <a:r>
              <a:rPr sz="1200" b="0">
                <a:solidFill>
                  <a:srgbClr val="444444"/>
                </a:solidFill>
                <a:latin typeface="游ゴシック"/>
              </a:rPr>
              <a:t>  営業：93-70 ＝ 23点差（不安定）</a:t>
            </a:r>
          </a:p>
          <a:p>
            <a:pPr algn="l">
              <a:spcAft>
                <a:spcPts val="300"/>
              </a:spcAft>
            </a:pPr>
            <a:r>
              <a:rPr sz="1200" b="0">
                <a:solidFill>
                  <a:srgbClr val="444444"/>
                </a:solidFill>
                <a:latin typeface="游ゴシック"/>
              </a:rPr>
              <a:t>  人事：82-75 ＝  7点差（均質低）</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読み取れること</a:t>
            </a:r>
          </a:p>
          <a:p>
            <a:pPr algn="l">
              <a:spcAft>
                <a:spcPts val="300"/>
              </a:spcAft>
            </a:pPr>
            <a:r>
              <a:rPr sz="1200" b="0">
                <a:solidFill>
                  <a:srgbClr val="444444"/>
                </a:solidFill>
                <a:latin typeface="游ゴシック"/>
              </a:rPr>
              <a:t>  開発は高水準かつ安定。一方、営業は</a:t>
            </a:r>
          </a:p>
          <a:p>
            <a:pPr algn="l">
              <a:spcAft>
                <a:spcPts val="300"/>
              </a:spcAft>
            </a:pPr>
            <a:r>
              <a:rPr sz="1200" b="0">
                <a:solidFill>
                  <a:srgbClr val="444444"/>
                </a:solidFill>
                <a:latin typeface="游ゴシック"/>
              </a:rPr>
              <a:t>  最高93点のトップがいても最低70点が</a:t>
            </a:r>
          </a:p>
          <a:p>
            <a:pPr algn="l">
              <a:spcAft>
                <a:spcPts val="300"/>
              </a:spcAft>
            </a:pPr>
            <a:r>
              <a:rPr sz="1200" b="0">
                <a:solidFill>
                  <a:srgbClr val="444444"/>
                </a:solidFill>
                <a:latin typeface="游ゴシック"/>
              </a:rPr>
              <a:t>  引き下げており「2極化」が進んでいる。</a:t>
            </a:r>
          </a:p>
          <a:p>
            <a:pPr algn="l">
              <a:spcAft>
                <a:spcPts val="300"/>
              </a:spcAft>
            </a:pPr>
            <a:r>
              <a:rPr sz="1200" b="0">
                <a:solidFill>
                  <a:srgbClr val="444444"/>
                </a:solidFill>
                <a:latin typeface="游ゴシック"/>
              </a:rPr>
              <a:t>  人事は差が小さいが水準そのものが低い。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課題3｜スコア分布ヒストグラム（会社データ）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所属別色分け＋全体平均線（84.9点）</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ph3_histogram.png"/>
          <p:cNvPicPr>
            <a:picLocks noChangeAspect="1"/>
          </p:cNvPicPr>
          <p:nvPr/>
        </p:nvPicPr>
        <p:blipFill>
          <a:blip r:embed="rId2"/>
          <a:stretch>
            <a:fillRect/>
          </a:stretch>
        </p:blipFill>
        <p:spPr>
          <a:xfrm>
            <a:off x="274320" y="1051560"/>
            <a:ext cx="7315200" cy="5349240"/>
          </a:xfrm>
          <a:prstGeom prst="rect">
            <a:avLst/>
          </a:prstGeom>
        </p:spPr>
      </p:pic>
      <p:sp>
        <p:nvSpPr>
          <p:cNvPr id="8" name="Rectangle 7"/>
          <p:cNvSpPr/>
          <p:nvPr/>
        </p:nvSpPr>
        <p:spPr>
          <a:xfrm>
            <a:off x="7772400" y="1051560"/>
            <a:ext cx="4160520" cy="5349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051560"/>
            <a:ext cx="64008" cy="5349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143000"/>
            <a:ext cx="3931920" cy="365760"/>
          </a:xfrm>
          <a:prstGeom prst="rect">
            <a:avLst/>
          </a:prstGeom>
          <a:noFill/>
        </p:spPr>
        <p:txBody>
          <a:bodyPr wrap="square">
            <a:spAutoFit/>
          </a:bodyPr>
          <a:lstStyle/>
          <a:p>
            <a:pPr algn="l"/>
            <a:r>
              <a:rPr sz="1300" b="1" i="0">
                <a:solidFill>
                  <a:srgbClr val="2E75B6"/>
                </a:solidFill>
                <a:latin typeface="游ゴシック"/>
              </a:rPr>
              <a:t>分布形状から読む組織状態</a:t>
            </a:r>
          </a:p>
        </p:txBody>
      </p:sp>
      <p:sp>
        <p:nvSpPr>
          <p:cNvPr id="11" name="TextBox 10"/>
          <p:cNvSpPr txBox="1"/>
          <p:nvPr/>
        </p:nvSpPr>
        <p:spPr>
          <a:xfrm>
            <a:off x="7936992" y="1554480"/>
            <a:ext cx="3886200" cy="4754879"/>
          </a:xfrm>
          <a:prstGeom prst="rect">
            <a:avLst/>
          </a:prstGeom>
          <a:noFill/>
        </p:spPr>
        <p:txBody>
          <a:bodyPr wrap="square">
            <a:spAutoFit/>
          </a:bodyPr>
          <a:lstStyle/>
          <a:p>
            <a:pPr algn="l">
              <a:spcAft>
                <a:spcPts val="300"/>
              </a:spcAft>
            </a:pPr>
            <a:r>
              <a:rPr sz="1200" b="0">
                <a:solidFill>
                  <a:srgbClr val="444444"/>
                </a:solidFill>
                <a:latin typeface="游ゴシック"/>
              </a:rPr>
              <a:t>■ 全体平均：84.9点</a:t>
            </a:r>
          </a:p>
          <a:p>
            <a:pPr algn="l">
              <a:spcAft>
                <a:spcPts val="300"/>
              </a:spcAft>
            </a:pPr>
            <a:r>
              <a:rPr sz="1200" b="0">
                <a:solidFill>
                  <a:srgbClr val="444444"/>
                </a:solidFill>
                <a:latin typeface="游ゴシック"/>
              </a:rPr>
              <a:t>  中央値86点 ＞ 平均84.9点</a:t>
            </a:r>
          </a:p>
          <a:p>
            <a:pPr algn="l">
              <a:spcAft>
                <a:spcPts val="300"/>
              </a:spcAft>
            </a:pPr>
            <a:r>
              <a:rPr sz="1200" b="0">
                <a:solidFill>
                  <a:srgbClr val="444444"/>
                </a:solidFill>
                <a:latin typeface="游ゴシック"/>
              </a:rPr>
              <a:t>  → 低スコア側に引っ張られる分布</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右寄り（高得点）に集中する部門</a:t>
            </a:r>
          </a:p>
          <a:p>
            <a:pPr algn="l">
              <a:spcAft>
                <a:spcPts val="300"/>
              </a:spcAft>
            </a:pPr>
            <a:r>
              <a:rPr sz="1200" b="0">
                <a:solidFill>
                  <a:srgbClr val="444444"/>
                </a:solidFill>
                <a:latin typeface="游ゴシック"/>
              </a:rPr>
              <a:t>  開発・管理は90点台に多くの人材</a:t>
            </a:r>
          </a:p>
          <a:p>
            <a:pPr algn="l">
              <a:spcAft>
                <a:spcPts val="300"/>
              </a:spcAft>
            </a:pPr>
            <a:r>
              <a:rPr sz="1200" b="0">
                <a:solidFill>
                  <a:srgbClr val="444444"/>
                </a:solidFill>
                <a:latin typeface="游ゴシック"/>
              </a:rPr>
              <a:t>  → 高水準で安定したパフォーマンス</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左寄り（低得点）が目立つ部門</a:t>
            </a:r>
          </a:p>
          <a:p>
            <a:pPr algn="l">
              <a:spcAft>
                <a:spcPts val="300"/>
              </a:spcAft>
            </a:pPr>
            <a:r>
              <a:rPr sz="1200" b="0">
                <a:solidFill>
                  <a:srgbClr val="444444"/>
                </a:solidFill>
                <a:latin typeface="游ゴシック"/>
              </a:rPr>
              <a:t>  人事は75〜82点帯に全員が集中</a:t>
            </a:r>
          </a:p>
          <a:p>
            <a:pPr algn="l">
              <a:spcAft>
                <a:spcPts val="300"/>
              </a:spcAft>
            </a:pPr>
            <a:r>
              <a:rPr sz="1200" b="0">
                <a:solidFill>
                  <a:srgbClr val="444444"/>
                </a:solidFill>
                <a:latin typeface="游ゴシック"/>
              </a:rPr>
              <a:t>  営業は70〜80点帯にも複数名</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マーケティング的解釈</a:t>
            </a:r>
          </a:p>
          <a:p>
            <a:pPr algn="l">
              <a:spcAft>
                <a:spcPts val="300"/>
              </a:spcAft>
            </a:pPr>
            <a:r>
              <a:rPr sz="1200" b="0">
                <a:solidFill>
                  <a:srgbClr val="444444"/>
                </a:solidFill>
                <a:latin typeface="游ゴシック"/>
              </a:rPr>
              <a:t>  人事の分布は「正規分布」ではなく</a:t>
            </a:r>
          </a:p>
          <a:p>
            <a:pPr algn="l">
              <a:spcAft>
                <a:spcPts val="300"/>
              </a:spcAft>
            </a:pPr>
            <a:r>
              <a:rPr sz="1200" b="0">
                <a:solidFill>
                  <a:srgbClr val="444444"/>
                </a:solidFill>
                <a:latin typeface="游ゴシック"/>
              </a:rPr>
              <a:t>  「圧縮された低水準の山」。</a:t>
            </a:r>
          </a:p>
          <a:p>
            <a:pPr algn="l">
              <a:spcAft>
                <a:spcPts val="300"/>
              </a:spcAft>
            </a:pPr>
            <a:r>
              <a:rPr sz="1200" b="0">
                <a:solidFill>
                  <a:srgbClr val="444444"/>
                </a:solidFill>
                <a:latin typeface="游ゴシック"/>
              </a:rPr>
              <a:t>  外部刺激（研修・人材交流）なしに</a:t>
            </a:r>
          </a:p>
          <a:p>
            <a:pPr algn="l">
              <a:spcAft>
                <a:spcPts val="300"/>
              </a:spcAft>
            </a:pPr>
            <a:r>
              <a:rPr sz="1200" b="0">
                <a:solidFill>
                  <a:srgbClr val="444444"/>
                </a:solidFill>
                <a:latin typeface="游ゴシック"/>
              </a:rPr>
              <a:t>  自然改善は期待しにくい状態。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課題3｜マーケティング分析サマリー（会社データ）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強み・課題・リスクの三層構造</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3520440" cy="5486400"/>
          </a:xfrm>
          <a:prstGeom prst="rect">
            <a:avLst/>
          </a:prstGeom>
          <a:solidFill>
            <a:srgbClr val="E2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51560"/>
            <a:ext cx="3520440" cy="457200"/>
          </a:xfrm>
          <a:prstGeom prst="rect">
            <a:avLst/>
          </a:prstGeom>
          <a:solidFill>
            <a:srgbClr val="1E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097280"/>
            <a:ext cx="3291840" cy="384048"/>
          </a:xfrm>
          <a:prstGeom prst="rect">
            <a:avLst/>
          </a:prstGeom>
          <a:noFill/>
        </p:spPr>
        <p:txBody>
          <a:bodyPr wrap="square">
            <a:spAutoFit/>
          </a:bodyPr>
          <a:lstStyle/>
          <a:p>
            <a:pPr algn="l"/>
            <a:r>
              <a:rPr sz="1400" b="1" i="0">
                <a:solidFill>
                  <a:srgbClr val="FFFFFF"/>
                </a:solidFill>
                <a:latin typeface="游ゴシック"/>
              </a:rPr>
              <a:t>強み（開発・管理）</a:t>
            </a:r>
          </a:p>
        </p:txBody>
      </p:sp>
      <p:sp>
        <p:nvSpPr>
          <p:cNvPr id="10" name="TextBox 9"/>
          <p:cNvSpPr txBox="1"/>
          <p:nvPr/>
        </p:nvSpPr>
        <p:spPr>
          <a:xfrm>
            <a:off x="411479" y="1572768"/>
            <a:ext cx="3291840" cy="4892040"/>
          </a:xfrm>
          <a:prstGeom prst="rect">
            <a:avLst/>
          </a:prstGeom>
          <a:noFill/>
        </p:spPr>
        <p:txBody>
          <a:bodyPr wrap="square">
            <a:spAutoFit/>
          </a:bodyPr>
          <a:lstStyle/>
          <a:p>
            <a:pPr algn="l">
              <a:spcAft>
                <a:spcPts val="300"/>
              </a:spcAft>
            </a:pPr>
            <a:r>
              <a:rPr sz="1200" b="0">
                <a:solidFill>
                  <a:srgbClr val="444444"/>
                </a:solidFill>
                <a:latin typeface="游ゴシック"/>
              </a:rPr>
              <a:t>開発：平均88.9点・標準偏差3.57</a:t>
            </a:r>
          </a:p>
          <a:p>
            <a:pPr algn="l">
              <a:spcAft>
                <a:spcPts val="300"/>
              </a:spcAft>
            </a:pPr>
            <a:r>
              <a:rPr sz="1200" b="0">
                <a:solidFill>
                  <a:srgbClr val="444444"/>
                </a:solidFill>
                <a:latin typeface="游ゴシック"/>
              </a:rPr>
              <a:t>　→ 高品質かつ安定したアウトプット</a:t>
            </a:r>
          </a:p>
          <a:p>
            <a:pPr algn="l">
              <a:spcAft>
                <a:spcPts val="300"/>
              </a:spcAft>
            </a:pPr>
            <a:r>
              <a:rPr sz="1200" b="0">
                <a:solidFill>
                  <a:srgbClr val="444444"/>
                </a:solidFill>
                <a:latin typeface="游ゴシック"/>
              </a:rPr>
              <a:t>管理：平均87.1点・標準偏差5.62</a:t>
            </a:r>
          </a:p>
          <a:p>
            <a:pPr algn="l">
              <a:spcAft>
                <a:spcPts val="300"/>
              </a:spcAft>
            </a:pPr>
            <a:r>
              <a:rPr sz="1200" b="0">
                <a:solidFill>
                  <a:srgbClr val="444444"/>
                </a:solidFill>
                <a:latin typeface="游ゴシック"/>
              </a:rPr>
              <a:t>　→ 均整のとれた高水準チーム</a:t>
            </a:r>
          </a:p>
          <a:p>
            <a:pPr algn="l">
              <a:spcAft>
                <a:spcPts val="300"/>
              </a:spcAft>
            </a:pPr>
            <a:r>
              <a:rPr sz="1200" b="0">
                <a:solidFill>
                  <a:srgbClr val="444444"/>
                </a:solidFill>
                <a:latin typeface="游ゴシック"/>
              </a:rPr>
              <a:t>ハイパフォーマー率（90点以上）</a:t>
            </a:r>
          </a:p>
          <a:p>
            <a:pPr algn="l">
              <a:spcAft>
                <a:spcPts val="300"/>
              </a:spcAft>
            </a:pPr>
            <a:r>
              <a:rPr sz="1200" b="0">
                <a:solidFill>
                  <a:srgbClr val="444444"/>
                </a:solidFill>
                <a:latin typeface="游ゴシック"/>
              </a:rPr>
              <a:t>　開発40% / 管理37.5%</a:t>
            </a:r>
          </a:p>
          <a:p>
            <a:pPr algn="l">
              <a:spcAft>
                <a:spcPts val="300"/>
              </a:spcAft>
            </a:pPr>
            <a:r>
              <a:rPr sz="1200" b="0">
                <a:solidFill>
                  <a:srgbClr val="444444"/>
                </a:solidFill>
                <a:latin typeface="游ゴシック"/>
              </a:rPr>
              <a:t/>
            </a:r>
          </a:p>
          <a:p>
            <a:pPr algn="l">
              <a:spcAft>
                <a:spcPts val="300"/>
              </a:spcAft>
            </a:pPr>
            <a:r>
              <a:rPr sz="1200" b="1">
                <a:solidFill>
                  <a:srgbClr val="1E7A45"/>
                </a:solidFill>
                <a:latin typeface="游ゴシック"/>
              </a:rPr>
              <a:t>【施策】</a:t>
            </a:r>
          </a:p>
          <a:p>
            <a:pPr algn="l">
              <a:spcAft>
                <a:spcPts val="300"/>
              </a:spcAft>
            </a:pPr>
            <a:r>
              <a:rPr sz="1200" b="0">
                <a:solidFill>
                  <a:srgbClr val="444444"/>
                </a:solidFill>
                <a:latin typeface="游ゴシック"/>
              </a:rPr>
              <a:t>成功パターンをマニュアル化し</a:t>
            </a:r>
          </a:p>
          <a:p>
            <a:pPr algn="l">
              <a:spcAft>
                <a:spcPts val="300"/>
              </a:spcAft>
            </a:pPr>
            <a:r>
              <a:rPr sz="1200" b="0">
                <a:solidFill>
                  <a:srgbClr val="444444"/>
                </a:solidFill>
                <a:latin typeface="游ゴシック"/>
              </a:rPr>
              <a:t>営業・人事へ横展開する。</a:t>
            </a:r>
          </a:p>
          <a:p>
            <a:pPr algn="l">
              <a:spcAft>
                <a:spcPts val="300"/>
              </a:spcAft>
            </a:pPr>
            <a:r>
              <a:rPr sz="1200" b="0">
                <a:solidFill>
                  <a:srgbClr val="444444"/>
                </a:solidFill>
                <a:latin typeface="游ゴシック"/>
              </a:rPr>
              <a:t>高スコア者をメンターに任命。</a:t>
            </a:r>
          </a:p>
        </p:txBody>
      </p:sp>
      <p:sp>
        <p:nvSpPr>
          <p:cNvPr id="11" name="Rectangle 10"/>
          <p:cNvSpPr/>
          <p:nvPr/>
        </p:nvSpPr>
        <p:spPr>
          <a:xfrm>
            <a:off x="4297680" y="1051560"/>
            <a:ext cx="3520440" cy="5486400"/>
          </a:xfrm>
          <a:prstGeom prst="rect">
            <a:avLst/>
          </a:prstGeom>
          <a:solidFill>
            <a:srgbClr val="FDF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051560"/>
            <a:ext cx="3520440" cy="457200"/>
          </a:xfrm>
          <a:prstGeom prst="rect">
            <a:avLst/>
          </a:prstGeom>
          <a:solidFill>
            <a:srgbClr val="B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1097280"/>
            <a:ext cx="3291840" cy="384048"/>
          </a:xfrm>
          <a:prstGeom prst="rect">
            <a:avLst/>
          </a:prstGeom>
          <a:noFill/>
        </p:spPr>
        <p:txBody>
          <a:bodyPr wrap="square">
            <a:spAutoFit/>
          </a:bodyPr>
          <a:lstStyle/>
          <a:p>
            <a:pPr algn="l"/>
            <a:r>
              <a:rPr sz="1400" b="1" i="0">
                <a:solidFill>
                  <a:srgbClr val="FFFFFF"/>
                </a:solidFill>
                <a:latin typeface="游ゴシック"/>
              </a:rPr>
              <a:t>課題（人事）</a:t>
            </a:r>
          </a:p>
        </p:txBody>
      </p:sp>
      <p:sp>
        <p:nvSpPr>
          <p:cNvPr id="14" name="TextBox 13"/>
          <p:cNvSpPr txBox="1"/>
          <p:nvPr/>
        </p:nvSpPr>
        <p:spPr>
          <a:xfrm>
            <a:off x="4434840" y="1572768"/>
            <a:ext cx="3291840" cy="4892040"/>
          </a:xfrm>
          <a:prstGeom prst="rect">
            <a:avLst/>
          </a:prstGeom>
          <a:noFill/>
        </p:spPr>
        <p:txBody>
          <a:bodyPr wrap="square">
            <a:spAutoFit/>
          </a:bodyPr>
          <a:lstStyle/>
          <a:p>
            <a:pPr algn="l">
              <a:spcAft>
                <a:spcPts val="300"/>
              </a:spcAft>
            </a:pPr>
            <a:r>
              <a:rPr sz="1200" b="0">
                <a:solidFill>
                  <a:srgbClr val="444444"/>
                </a:solidFill>
                <a:latin typeface="游ゴシック"/>
              </a:rPr>
              <a:t>平均79.3点（全体比 −5.6点）</a:t>
            </a:r>
          </a:p>
          <a:p>
            <a:pPr algn="l">
              <a:spcAft>
                <a:spcPts val="300"/>
              </a:spcAft>
            </a:pPr>
            <a:r>
              <a:rPr sz="1200" b="0">
                <a:solidFill>
                  <a:srgbClr val="444444"/>
                </a:solidFill>
                <a:latin typeface="游ゴシック"/>
              </a:rPr>
              <a:t>　→ 全部門で唯一80点未満</a:t>
            </a:r>
          </a:p>
          <a:p>
            <a:pPr algn="l">
              <a:spcAft>
                <a:spcPts val="300"/>
              </a:spcAft>
            </a:pPr>
            <a:r>
              <a:rPr sz="1200" b="0">
                <a:solidFill>
                  <a:srgbClr val="444444"/>
                </a:solidFill>
                <a:latin typeface="游ゴシック"/>
              </a:rPr>
              <a:t>ハイパフォーマー：0名</a:t>
            </a:r>
          </a:p>
          <a:p>
            <a:pPr algn="l">
              <a:spcAft>
                <a:spcPts val="300"/>
              </a:spcAft>
            </a:pPr>
            <a:r>
              <a:rPr sz="1200" b="0">
                <a:solidFill>
                  <a:srgbClr val="444444"/>
                </a:solidFill>
                <a:latin typeface="游ゴシック"/>
              </a:rPr>
              <a:t>標準偏差2.29（最小）</a:t>
            </a:r>
          </a:p>
          <a:p>
            <a:pPr algn="l">
              <a:spcAft>
                <a:spcPts val="300"/>
              </a:spcAft>
            </a:pPr>
            <a:r>
              <a:rPr sz="1200" b="0">
                <a:solidFill>
                  <a:srgbClr val="444444"/>
                </a:solidFill>
                <a:latin typeface="游ゴシック"/>
              </a:rPr>
              <a:t>　→ 全員が同じ低水準に均質化</a:t>
            </a:r>
          </a:p>
          <a:p>
            <a:pPr algn="l">
              <a:spcAft>
                <a:spcPts val="300"/>
              </a:spcAft>
            </a:pPr>
            <a:r>
              <a:rPr sz="1200" b="0">
                <a:solidFill>
                  <a:srgbClr val="444444"/>
                </a:solidFill>
                <a:latin typeface="游ゴシック"/>
              </a:rPr>
              <a:t/>
            </a:r>
          </a:p>
          <a:p>
            <a:pPr algn="l">
              <a:spcAft>
                <a:spcPts val="300"/>
              </a:spcAft>
            </a:pPr>
            <a:r>
              <a:rPr sz="1200" b="1">
                <a:solidFill>
                  <a:srgbClr val="BF6C00"/>
                </a:solidFill>
                <a:latin typeface="游ゴシック"/>
              </a:rPr>
              <a:t>【なぜ問題か】</a:t>
            </a:r>
          </a:p>
          <a:p>
            <a:pPr algn="l">
              <a:spcAft>
                <a:spcPts val="300"/>
              </a:spcAft>
            </a:pPr>
            <a:r>
              <a:rPr sz="1200" b="0">
                <a:solidFill>
                  <a:srgbClr val="444444"/>
                </a:solidFill>
                <a:latin typeface="游ゴシック"/>
              </a:rPr>
              <a:t>人事が弱いと採用品質・</a:t>
            </a:r>
          </a:p>
          <a:p>
            <a:pPr algn="l">
              <a:spcAft>
                <a:spcPts val="300"/>
              </a:spcAft>
            </a:pPr>
            <a:r>
              <a:rPr sz="1200" b="0">
                <a:solidFill>
                  <a:srgbClr val="444444"/>
                </a:solidFill>
                <a:latin typeface="游ゴシック"/>
              </a:rPr>
              <a:t>組織施策・人材育成に連鎖影響。</a:t>
            </a:r>
          </a:p>
          <a:p>
            <a:pPr algn="l">
              <a:spcAft>
                <a:spcPts val="300"/>
              </a:spcAft>
            </a:pPr>
            <a:r>
              <a:rPr sz="1200" b="0">
                <a:solidFill>
                  <a:srgbClr val="444444"/>
                </a:solidFill>
                <a:latin typeface="游ゴシック"/>
              </a:rPr>
              <a:t>組織全体の底を規定する部門。</a:t>
            </a:r>
          </a:p>
          <a:p>
            <a:pPr algn="l">
              <a:spcAft>
                <a:spcPts val="300"/>
              </a:spcAft>
            </a:pPr>
            <a:r>
              <a:rPr sz="1200" b="0">
                <a:solidFill>
                  <a:srgbClr val="444444"/>
                </a:solidFill>
                <a:latin typeface="游ゴシック"/>
              </a:rPr>
              <a:t/>
            </a:r>
          </a:p>
          <a:p>
            <a:pPr algn="l">
              <a:spcAft>
                <a:spcPts val="300"/>
              </a:spcAft>
            </a:pPr>
            <a:r>
              <a:rPr sz="1200" b="1">
                <a:solidFill>
                  <a:srgbClr val="BF6C00"/>
                </a:solidFill>
                <a:latin typeface="游ゴシック"/>
              </a:rPr>
              <a:t>【施策】外部研修・個別コーチング優先</a:t>
            </a:r>
          </a:p>
        </p:txBody>
      </p:sp>
      <p:sp>
        <p:nvSpPr>
          <p:cNvPr id="15" name="Rectangle 14"/>
          <p:cNvSpPr/>
          <p:nvPr/>
        </p:nvSpPr>
        <p:spPr>
          <a:xfrm>
            <a:off x="8321040" y="1051560"/>
            <a:ext cx="3520440" cy="5486400"/>
          </a:xfrm>
          <a:prstGeom prst="rect">
            <a:avLst/>
          </a:prstGeom>
          <a:solidFill>
            <a:srgbClr val="FC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1051560"/>
            <a:ext cx="3520440" cy="4572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7" y="1097280"/>
            <a:ext cx="3291840" cy="384048"/>
          </a:xfrm>
          <a:prstGeom prst="rect">
            <a:avLst/>
          </a:prstGeom>
          <a:noFill/>
        </p:spPr>
        <p:txBody>
          <a:bodyPr wrap="square">
            <a:spAutoFit/>
          </a:bodyPr>
          <a:lstStyle/>
          <a:p>
            <a:pPr algn="l"/>
            <a:r>
              <a:rPr sz="1400" b="1" i="0">
                <a:solidFill>
                  <a:srgbClr val="FFFFFF"/>
                </a:solidFill>
                <a:latin typeface="游ゴシック"/>
              </a:rPr>
              <a:t>リスク（営業）</a:t>
            </a:r>
          </a:p>
        </p:txBody>
      </p:sp>
      <p:sp>
        <p:nvSpPr>
          <p:cNvPr id="18" name="TextBox 17"/>
          <p:cNvSpPr txBox="1"/>
          <p:nvPr/>
        </p:nvSpPr>
        <p:spPr>
          <a:xfrm>
            <a:off x="8458200" y="1572768"/>
            <a:ext cx="3291840" cy="4892040"/>
          </a:xfrm>
          <a:prstGeom prst="rect">
            <a:avLst/>
          </a:prstGeom>
          <a:noFill/>
        </p:spPr>
        <p:txBody>
          <a:bodyPr wrap="square">
            <a:spAutoFit/>
          </a:bodyPr>
          <a:lstStyle/>
          <a:p>
            <a:pPr algn="l">
              <a:spcAft>
                <a:spcPts val="300"/>
              </a:spcAft>
            </a:pPr>
            <a:r>
              <a:rPr sz="1200" b="0">
                <a:solidFill>
                  <a:srgbClr val="444444"/>
                </a:solidFill>
                <a:latin typeface="游ゴシック"/>
              </a:rPr>
              <a:t>平均83.0点・標準偏差7.48（最大）</a:t>
            </a:r>
          </a:p>
          <a:p>
            <a:pPr algn="l">
              <a:spcAft>
                <a:spcPts val="300"/>
              </a:spcAft>
            </a:pPr>
            <a:r>
              <a:rPr sz="1200" b="0">
                <a:solidFill>
                  <a:srgbClr val="444444"/>
                </a:solidFill>
                <a:latin typeface="游ゴシック"/>
              </a:rPr>
              <a:t>最低70点 ↔ 最高93点（差23点）</a:t>
            </a:r>
          </a:p>
          <a:p>
            <a:pPr algn="l">
              <a:spcAft>
                <a:spcPts val="300"/>
              </a:spcAft>
            </a:pPr>
            <a:r>
              <a:rPr sz="1200" b="0">
                <a:solidFill>
                  <a:srgbClr val="444444"/>
                </a:solidFill>
                <a:latin typeface="游ゴシック"/>
              </a:rPr>
              <a:t>ローパフォーマー（80点未満）4名</a:t>
            </a:r>
          </a:p>
          <a:p>
            <a:pPr algn="l">
              <a:spcAft>
                <a:spcPts val="300"/>
              </a:spcAft>
            </a:pPr>
            <a:r>
              <a:rPr sz="1200" b="0">
                <a:solidFill>
                  <a:srgbClr val="444444"/>
                </a:solidFill>
                <a:latin typeface="游ゴシック"/>
              </a:rPr>
              <a:t>　→ 全部門で最多</a:t>
            </a:r>
          </a:p>
          <a:p>
            <a:pPr algn="l">
              <a:spcAft>
                <a:spcPts val="300"/>
              </a:spcAft>
            </a:pPr>
            <a:r>
              <a:rPr sz="1200" b="0">
                <a:solidFill>
                  <a:srgbClr val="444444"/>
                </a:solidFill>
                <a:latin typeface="游ゴシック"/>
              </a:rPr>
              <a:t/>
            </a:r>
          </a:p>
          <a:p>
            <a:pPr algn="l">
              <a:spcAft>
                <a:spcPts val="300"/>
              </a:spcAft>
            </a:pPr>
            <a:r>
              <a:rPr sz="1200" b="1">
                <a:solidFill>
                  <a:srgbClr val="C00000"/>
                </a:solidFill>
                <a:latin typeface="游ゴシック"/>
              </a:rPr>
              <a:t>【なぜ問題か】</a:t>
            </a:r>
          </a:p>
          <a:p>
            <a:pPr algn="l">
              <a:spcAft>
                <a:spcPts val="300"/>
              </a:spcAft>
            </a:pPr>
            <a:r>
              <a:rPr sz="1200" b="0">
                <a:solidFill>
                  <a:srgbClr val="444444"/>
                </a:solidFill>
                <a:latin typeface="游ゴシック"/>
              </a:rPr>
              <a:t>営業力の個人依存＝</a:t>
            </a:r>
          </a:p>
          <a:p>
            <a:pPr algn="l">
              <a:spcAft>
                <a:spcPts val="300"/>
              </a:spcAft>
            </a:pPr>
            <a:r>
              <a:rPr sz="1200" b="0">
                <a:solidFill>
                  <a:srgbClr val="444444"/>
                </a:solidFill>
                <a:latin typeface="游ゴシック"/>
              </a:rPr>
              <a:t>売上の予測可能性が低下。</a:t>
            </a:r>
          </a:p>
          <a:p>
            <a:pPr algn="l">
              <a:spcAft>
                <a:spcPts val="300"/>
              </a:spcAft>
            </a:pPr>
            <a:r>
              <a:rPr sz="1200" b="0">
                <a:solidFill>
                  <a:srgbClr val="444444"/>
                </a:solidFill>
                <a:latin typeface="游ゴシック"/>
              </a:rPr>
              <a:t>トップが抜けた瞬間に</a:t>
            </a:r>
          </a:p>
          <a:p>
            <a:pPr algn="l">
              <a:spcAft>
                <a:spcPts val="300"/>
              </a:spcAft>
            </a:pPr>
            <a:r>
              <a:rPr sz="1200" b="0">
                <a:solidFill>
                  <a:srgbClr val="444444"/>
                </a:solidFill>
                <a:latin typeface="游ゴシック"/>
              </a:rPr>
              <a:t>収益が急落するリスクがある。</a:t>
            </a:r>
          </a:p>
          <a:p>
            <a:pPr algn="l">
              <a:spcAft>
                <a:spcPts val="300"/>
              </a:spcAft>
            </a:pPr>
            <a:r>
              <a:rPr sz="1200" b="0">
                <a:solidFill>
                  <a:srgbClr val="444444"/>
                </a:solidFill>
                <a:latin typeface="游ゴシック"/>
              </a:rPr>
              <a:t/>
            </a:r>
          </a:p>
          <a:p>
            <a:pPr algn="l">
              <a:spcAft>
                <a:spcPts val="300"/>
              </a:spcAft>
            </a:pPr>
            <a:r>
              <a:rPr sz="1200" b="1">
                <a:solidFill>
                  <a:srgbClr val="C00000"/>
                </a:solidFill>
                <a:latin typeface="游ゴシック"/>
              </a:rPr>
              <a:t>【施策】トップ営業のナレッジ移転・OJT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3A2A"/>
        </a:solidFill>
        <a:effectLst/>
      </p:bgPr>
    </p:bg>
    <p:spTree>
      <p:nvGrpSpPr>
        <p:cNvPr id="1" name=""/>
        <p:cNvGrpSpPr/>
        <p:nvPr/>
      </p:nvGrpSpPr>
      <p:grpSpPr/>
      <p:sp>
        <p:nvSpPr>
          <p:cNvPr id="2" name="Rectangle 1"/>
          <p:cNvSpPr/>
          <p:nvPr/>
        </p:nvSpPr>
        <p:spPr>
          <a:xfrm>
            <a:off x="0" y="2560320"/>
            <a:ext cx="12188952" cy="2011680"/>
          </a:xfrm>
          <a:prstGeom prst="rect">
            <a:avLst/>
          </a:prstGeom>
          <a:solidFill>
            <a:srgbClr val="1E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274320" cy="20116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606040"/>
            <a:ext cx="10972800" cy="502920"/>
          </a:xfrm>
          <a:prstGeom prst="rect">
            <a:avLst/>
          </a:prstGeom>
          <a:noFill/>
        </p:spPr>
        <p:txBody>
          <a:bodyPr wrap="square">
            <a:spAutoFit/>
          </a:bodyPr>
          <a:lstStyle/>
          <a:p>
            <a:pPr algn="l"/>
            <a:r>
              <a:rPr sz="1800" b="0" i="0">
                <a:solidFill>
                  <a:srgbClr val="E2F4E8"/>
                </a:solidFill>
                <a:latin typeface="游ゴシック"/>
              </a:rPr>
              <a:t>課題２</a:t>
            </a:r>
          </a:p>
        </p:txBody>
      </p:sp>
      <p:sp>
        <p:nvSpPr>
          <p:cNvPr id="5" name="TextBox 4"/>
          <p:cNvSpPr txBox="1"/>
          <p:nvPr/>
        </p:nvSpPr>
        <p:spPr>
          <a:xfrm>
            <a:off x="548640" y="3017520"/>
            <a:ext cx="10972800" cy="822960"/>
          </a:xfrm>
          <a:prstGeom prst="rect">
            <a:avLst/>
          </a:prstGeom>
          <a:noFill/>
        </p:spPr>
        <p:txBody>
          <a:bodyPr wrap="square">
            <a:spAutoFit/>
          </a:bodyPr>
          <a:lstStyle/>
          <a:p>
            <a:pPr algn="l"/>
            <a:r>
              <a:rPr sz="3400" b="1" i="0">
                <a:solidFill>
                  <a:srgbClr val="FFFFFF"/>
                </a:solidFill>
                <a:latin typeface="游ゴシック"/>
              </a:rPr>
              <a:t>学校データ｜科目別スコア分析</a:t>
            </a:r>
          </a:p>
        </p:txBody>
      </p:sp>
      <p:sp>
        <p:nvSpPr>
          <p:cNvPr id="6" name="TextBox 5"/>
          <p:cNvSpPr txBox="1"/>
          <p:nvPr/>
        </p:nvSpPr>
        <p:spPr>
          <a:xfrm>
            <a:off x="548640" y="3886200"/>
            <a:ext cx="10972800" cy="502920"/>
          </a:xfrm>
          <a:prstGeom prst="rect">
            <a:avLst/>
          </a:prstGeom>
          <a:noFill/>
        </p:spPr>
        <p:txBody>
          <a:bodyPr wrap="square">
            <a:spAutoFit/>
          </a:bodyPr>
          <a:lstStyle/>
          <a:p>
            <a:pPr algn="l"/>
            <a:r>
              <a:rPr sz="1500" b="0" i="0">
                <a:solidFill>
                  <a:srgbClr val="E2F4E8"/>
                </a:solidFill>
                <a:latin typeface="游ゴシック"/>
              </a:rPr>
              <a:t>受講者ごとの科目別スコア推移・成長幅・弱点科目を可視化する</a:t>
            </a:r>
          </a:p>
        </p:txBody>
      </p:sp>
      <p:sp>
        <p:nvSpPr>
          <p:cNvPr id="7" name="Rectangle 6"/>
          <p:cNvSpPr/>
          <p:nvPr/>
        </p:nvSpPr>
        <p:spPr>
          <a:xfrm>
            <a:off x="0" y="6217920"/>
            <a:ext cx="12188952" cy="640080"/>
          </a:xfrm>
          <a:prstGeom prst="rect">
            <a:avLst/>
          </a:prstGeom>
          <a:solidFill>
            <a:srgbClr val="0D2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課題2｜日別スコア成長トレンド（学校データ）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受講者別折れ線グラフ　／　全体平均（破線）</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ph4_trend.png"/>
          <p:cNvPicPr>
            <a:picLocks noChangeAspect="1"/>
          </p:cNvPicPr>
          <p:nvPr/>
        </p:nvPicPr>
        <p:blipFill>
          <a:blip r:embed="rId2"/>
          <a:stretch>
            <a:fillRect/>
          </a:stretch>
        </p:blipFill>
        <p:spPr>
          <a:xfrm>
            <a:off x="274320" y="1051560"/>
            <a:ext cx="7315200" cy="5349240"/>
          </a:xfrm>
          <a:prstGeom prst="rect">
            <a:avLst/>
          </a:prstGeom>
        </p:spPr>
      </p:pic>
      <p:sp>
        <p:nvSpPr>
          <p:cNvPr id="8" name="Rectangle 7"/>
          <p:cNvSpPr/>
          <p:nvPr/>
        </p:nvSpPr>
        <p:spPr>
          <a:xfrm>
            <a:off x="7772400" y="1051560"/>
            <a:ext cx="4160520" cy="5349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051560"/>
            <a:ext cx="64008" cy="5349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143000"/>
            <a:ext cx="3931920" cy="365760"/>
          </a:xfrm>
          <a:prstGeom prst="rect">
            <a:avLst/>
          </a:prstGeom>
          <a:noFill/>
        </p:spPr>
        <p:txBody>
          <a:bodyPr wrap="square">
            <a:spAutoFit/>
          </a:bodyPr>
          <a:lstStyle/>
          <a:p>
            <a:pPr algn="l"/>
            <a:r>
              <a:rPr sz="1300" b="1" i="0">
                <a:solidFill>
                  <a:srgbClr val="2E75B6"/>
                </a:solidFill>
                <a:latin typeface="游ゴシック"/>
              </a:rPr>
              <a:t>成長トレンドの読み方</a:t>
            </a:r>
          </a:p>
        </p:txBody>
      </p:sp>
      <p:sp>
        <p:nvSpPr>
          <p:cNvPr id="11" name="TextBox 10"/>
          <p:cNvSpPr txBox="1"/>
          <p:nvPr/>
        </p:nvSpPr>
        <p:spPr>
          <a:xfrm>
            <a:off x="7936992" y="1554480"/>
            <a:ext cx="3886200" cy="4754879"/>
          </a:xfrm>
          <a:prstGeom prst="rect">
            <a:avLst/>
          </a:prstGeom>
          <a:noFill/>
        </p:spPr>
        <p:txBody>
          <a:bodyPr wrap="square">
            <a:spAutoFit/>
          </a:bodyPr>
          <a:lstStyle/>
          <a:p>
            <a:pPr algn="l">
              <a:spcAft>
                <a:spcPts val="300"/>
              </a:spcAft>
            </a:pPr>
            <a:r>
              <a:rPr sz="1200" b="0">
                <a:solidFill>
                  <a:srgbClr val="444444"/>
                </a:solidFill>
                <a:latin typeface="游ゴシック"/>
              </a:rPr>
              <a:t>■ 全体（黒破線）の動き</a:t>
            </a:r>
          </a:p>
          <a:p>
            <a:pPr algn="l">
              <a:spcAft>
                <a:spcPts val="300"/>
              </a:spcAft>
            </a:pPr>
            <a:r>
              <a:rPr sz="1200" b="0">
                <a:solidFill>
                  <a:srgbClr val="444444"/>
                </a:solidFill>
                <a:latin typeface="游ゴシック"/>
              </a:rPr>
              <a:t>  9/1：80.3点 → 9/5：89.8点</a:t>
            </a:r>
          </a:p>
          <a:p>
            <a:pPr algn="l">
              <a:spcAft>
                <a:spcPts val="300"/>
              </a:spcAft>
            </a:pPr>
            <a:r>
              <a:rPr sz="1200" b="0">
                <a:solidFill>
                  <a:srgbClr val="444444"/>
                </a:solidFill>
                <a:latin typeface="游ゴシック"/>
              </a:rPr>
              <a:t>  5日間で +9.5点の明確な成長</a:t>
            </a:r>
          </a:p>
          <a:p>
            <a:pPr algn="l">
              <a:spcAft>
                <a:spcPts val="300"/>
              </a:spcAft>
            </a:pPr>
            <a:r>
              <a:rPr sz="1200" b="0">
                <a:solidFill>
                  <a:srgbClr val="444444"/>
                </a:solidFill>
                <a:latin typeface="游ゴシック"/>
              </a:rPr>
              <a:t>  → 研修・学習効果が数値で確認できる</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注目すべき個人</a:t>
            </a:r>
          </a:p>
          <a:p>
            <a:pPr algn="l">
              <a:spcAft>
                <a:spcPts val="300"/>
              </a:spcAft>
            </a:pPr>
            <a:r>
              <a:rPr sz="1200" b="0">
                <a:solidFill>
                  <a:srgbClr val="444444"/>
                </a:solidFill>
                <a:latin typeface="游ゴシック"/>
              </a:rPr>
              <a:t>  田中一郎（緑）</a:t>
            </a:r>
          </a:p>
          <a:p>
            <a:pPr algn="l">
              <a:spcAft>
                <a:spcPts val="300"/>
              </a:spcAft>
            </a:pPr>
            <a:r>
              <a:rPr sz="1200" b="0">
                <a:solidFill>
                  <a:srgbClr val="444444"/>
                </a:solidFill>
                <a:latin typeface="游ゴシック"/>
              </a:rPr>
              <a:t>  　初日81.7 → 最終日91.0（+9.3点）</a:t>
            </a:r>
          </a:p>
          <a:p>
            <a:pPr algn="l">
              <a:spcAft>
                <a:spcPts val="300"/>
              </a:spcAft>
            </a:pPr>
            <a:r>
              <a:rPr sz="1200" b="0">
                <a:solidFill>
                  <a:srgbClr val="444444"/>
                </a:solidFill>
                <a:latin typeface="游ゴシック"/>
              </a:rPr>
              <a:t>  　中盤以降に急加速するタイプ</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高橋花子（赤）</a:t>
            </a:r>
          </a:p>
          <a:p>
            <a:pPr algn="l">
              <a:spcAft>
                <a:spcPts val="300"/>
              </a:spcAft>
            </a:pPr>
            <a:r>
              <a:rPr sz="1200" b="0">
                <a:solidFill>
                  <a:srgbClr val="444444"/>
                </a:solidFill>
                <a:latin typeface="游ゴシック"/>
              </a:rPr>
              <a:t>  　初日92.5 → 最終日90.5（−2.0点）</a:t>
            </a:r>
          </a:p>
          <a:p>
            <a:pPr algn="l">
              <a:spcAft>
                <a:spcPts val="300"/>
              </a:spcAft>
            </a:pPr>
            <a:r>
              <a:rPr sz="1200" b="0">
                <a:solidFill>
                  <a:srgbClr val="444444"/>
                </a:solidFill>
                <a:latin typeface="游ゴシック"/>
              </a:rPr>
              <a:t>  　序盤から高水準だが後半に失速</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示唆</a:t>
            </a:r>
          </a:p>
          <a:p>
            <a:pPr algn="l">
              <a:spcAft>
                <a:spcPts val="300"/>
              </a:spcAft>
            </a:pPr>
            <a:r>
              <a:rPr sz="1200" b="0">
                <a:solidFill>
                  <a:srgbClr val="444444"/>
                </a:solidFill>
                <a:latin typeface="游ゴシック"/>
              </a:rPr>
              <a:t>  高初期スコア者は「維持」より</a:t>
            </a:r>
          </a:p>
          <a:p>
            <a:pPr algn="l">
              <a:spcAft>
                <a:spcPts val="300"/>
              </a:spcAft>
            </a:pPr>
            <a:r>
              <a:rPr sz="1200" b="0">
                <a:solidFill>
                  <a:srgbClr val="444444"/>
                </a:solidFill>
                <a:latin typeface="游ゴシック"/>
              </a:rPr>
              <a:t>  「次のレベル」への刺激が必要。</a:t>
            </a:r>
          </a:p>
          <a:p>
            <a:pPr algn="l">
              <a:spcAft>
                <a:spcPts val="300"/>
              </a:spcAft>
            </a:pPr>
            <a:r>
              <a:rPr sz="1200" b="0">
                <a:solidFill>
                  <a:srgbClr val="444444"/>
                </a:solidFill>
                <a:latin typeface="游ゴシック"/>
              </a:rPr>
              <a:t>  成長余地があるのは田中・佐藤。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課題2｜受講者×科目 スコアヒートマップ（学校データ）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赤（低）→黄（中）→緑（高）のグラデーション</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ph5_heatmap.png"/>
          <p:cNvPicPr>
            <a:picLocks noChangeAspect="1"/>
          </p:cNvPicPr>
          <p:nvPr/>
        </p:nvPicPr>
        <p:blipFill>
          <a:blip r:embed="rId2"/>
          <a:stretch>
            <a:fillRect/>
          </a:stretch>
        </p:blipFill>
        <p:spPr>
          <a:xfrm>
            <a:off x="274320" y="1051560"/>
            <a:ext cx="7315200" cy="5349240"/>
          </a:xfrm>
          <a:prstGeom prst="rect">
            <a:avLst/>
          </a:prstGeom>
        </p:spPr>
      </p:pic>
      <p:sp>
        <p:nvSpPr>
          <p:cNvPr id="8" name="Rectangle 7"/>
          <p:cNvSpPr/>
          <p:nvPr/>
        </p:nvSpPr>
        <p:spPr>
          <a:xfrm>
            <a:off x="7772400" y="1051560"/>
            <a:ext cx="4160520" cy="5349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051560"/>
            <a:ext cx="64008" cy="5349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143000"/>
            <a:ext cx="3931920" cy="365760"/>
          </a:xfrm>
          <a:prstGeom prst="rect">
            <a:avLst/>
          </a:prstGeom>
          <a:noFill/>
        </p:spPr>
        <p:txBody>
          <a:bodyPr wrap="square">
            <a:spAutoFit/>
          </a:bodyPr>
          <a:lstStyle/>
          <a:p>
            <a:pPr algn="l"/>
            <a:r>
              <a:rPr sz="1300" b="1" i="0">
                <a:solidFill>
                  <a:srgbClr val="2E75B6"/>
                </a:solidFill>
                <a:latin typeface="游ゴシック"/>
              </a:rPr>
              <a:t>科目別・個人別の弱点マップ</a:t>
            </a:r>
          </a:p>
        </p:txBody>
      </p:sp>
      <p:sp>
        <p:nvSpPr>
          <p:cNvPr id="11" name="TextBox 10"/>
          <p:cNvSpPr txBox="1"/>
          <p:nvPr/>
        </p:nvSpPr>
        <p:spPr>
          <a:xfrm>
            <a:off x="7936992" y="1554480"/>
            <a:ext cx="3886200" cy="4754879"/>
          </a:xfrm>
          <a:prstGeom prst="rect">
            <a:avLst/>
          </a:prstGeom>
          <a:noFill/>
        </p:spPr>
        <p:txBody>
          <a:bodyPr wrap="square">
            <a:spAutoFit/>
          </a:bodyPr>
          <a:lstStyle/>
          <a:p>
            <a:pPr algn="l">
              <a:spcAft>
                <a:spcPts val="300"/>
              </a:spcAft>
            </a:pPr>
            <a:r>
              <a:rPr sz="1200" b="0">
                <a:solidFill>
                  <a:srgbClr val="444444"/>
                </a:solidFill>
                <a:latin typeface="游ゴシック"/>
              </a:rPr>
              <a:t>■ 科目別平均（高→低）</a:t>
            </a:r>
          </a:p>
          <a:p>
            <a:pPr algn="l">
              <a:spcAft>
                <a:spcPts val="300"/>
              </a:spcAft>
            </a:pPr>
            <a:r>
              <a:rPr sz="1200" b="0">
                <a:solidFill>
                  <a:srgbClr val="444444"/>
                </a:solidFill>
                <a:latin typeface="游ゴシック"/>
              </a:rPr>
              <a:t>  英語   86.7点  ← 最も得意</a:t>
            </a:r>
          </a:p>
          <a:p>
            <a:pPr algn="l">
              <a:spcAft>
                <a:spcPts val="300"/>
              </a:spcAft>
            </a:pPr>
            <a:r>
              <a:rPr sz="1200" b="0">
                <a:solidFill>
                  <a:srgbClr val="444444"/>
                </a:solidFill>
                <a:latin typeface="游ゴシック"/>
              </a:rPr>
              <a:t>  社会   85.0点</a:t>
            </a:r>
          </a:p>
          <a:p>
            <a:pPr algn="l">
              <a:spcAft>
                <a:spcPts val="300"/>
              </a:spcAft>
            </a:pPr>
            <a:r>
              <a:rPr sz="1200" b="0">
                <a:solidFill>
                  <a:srgbClr val="444444"/>
                </a:solidFill>
                <a:latin typeface="游ゴシック"/>
              </a:rPr>
              <a:t>  数学   84.8点</a:t>
            </a:r>
          </a:p>
          <a:p>
            <a:pPr algn="l">
              <a:spcAft>
                <a:spcPts val="300"/>
              </a:spcAft>
            </a:pPr>
            <a:r>
              <a:rPr sz="1200" b="0">
                <a:solidFill>
                  <a:srgbClr val="444444"/>
                </a:solidFill>
                <a:latin typeface="游ゴシック"/>
              </a:rPr>
              <a:t>  理科   84.4点</a:t>
            </a:r>
          </a:p>
          <a:p>
            <a:pPr algn="l">
              <a:spcAft>
                <a:spcPts val="300"/>
              </a:spcAft>
            </a:pPr>
            <a:r>
              <a:rPr sz="1200" b="0">
                <a:solidFill>
                  <a:srgbClr val="444444"/>
                </a:solidFill>
                <a:latin typeface="游ゴシック"/>
              </a:rPr>
              <a:t>  国語   83.7点  ← 最も苦手</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個人の弱点科目</a:t>
            </a:r>
          </a:p>
          <a:p>
            <a:pPr algn="l">
              <a:spcAft>
                <a:spcPts val="300"/>
              </a:spcAft>
            </a:pPr>
            <a:r>
              <a:rPr sz="1200" b="0">
                <a:solidFill>
                  <a:srgbClr val="444444"/>
                </a:solidFill>
                <a:latin typeface="游ゴシック"/>
              </a:rPr>
              <a:t>  佐藤次郎：社会68.0点・国語71.0点</a:t>
            </a:r>
          </a:p>
          <a:p>
            <a:pPr algn="l">
              <a:spcAft>
                <a:spcPts val="300"/>
              </a:spcAft>
            </a:pPr>
            <a:r>
              <a:rPr sz="1200" b="0">
                <a:solidFill>
                  <a:srgbClr val="444444"/>
                </a:solidFill>
                <a:latin typeface="游ゴシック"/>
              </a:rPr>
              <a:t>  　→ 文系科目に集中した弱点</a:t>
            </a:r>
          </a:p>
          <a:p>
            <a:pPr algn="l">
              <a:spcAft>
                <a:spcPts val="300"/>
              </a:spcAft>
            </a:pPr>
            <a:r>
              <a:rPr sz="1200" b="0">
                <a:solidFill>
                  <a:srgbClr val="444444"/>
                </a:solidFill>
                <a:latin typeface="游ゴシック"/>
              </a:rPr>
              <a:t>  山田太郎：国語81.0点が他より低い</a:t>
            </a:r>
          </a:p>
          <a:p>
            <a:pPr algn="l">
              <a:spcAft>
                <a:spcPts val="300"/>
              </a:spcAft>
            </a:pPr>
            <a:r>
              <a:rPr sz="1200" b="0">
                <a:solidFill>
                  <a:srgbClr val="444444"/>
                </a:solidFill>
                <a:latin typeface="游ゴシック"/>
              </a:rPr>
              <a:t>  鈴木花子：数学83.0点が他より低い</a:t>
            </a:r>
          </a:p>
          <a:p>
            <a:pPr algn="l">
              <a:spcAft>
                <a:spcPts val="300"/>
              </a:spcAft>
            </a:pPr>
            <a:r>
              <a:rPr sz="1200" b="0">
                <a:solidFill>
                  <a:srgbClr val="444444"/>
                </a:solidFill>
                <a:latin typeface="游ゴシック"/>
              </a:rPr>
              <a:t/>
            </a:r>
          </a:p>
          <a:p>
            <a:pPr algn="l">
              <a:spcAft>
                <a:spcPts val="300"/>
              </a:spcAft>
            </a:pPr>
            <a:r>
              <a:rPr sz="1200" b="0">
                <a:solidFill>
                  <a:srgbClr val="444444"/>
                </a:solidFill>
                <a:latin typeface="游ゴシック"/>
              </a:rPr>
              <a:t>■ マーケティング示唆</a:t>
            </a:r>
          </a:p>
          <a:p>
            <a:pPr algn="l">
              <a:spcAft>
                <a:spcPts val="300"/>
              </a:spcAft>
            </a:pPr>
            <a:r>
              <a:rPr sz="1200" b="0">
                <a:solidFill>
                  <a:srgbClr val="444444"/>
                </a:solidFill>
                <a:latin typeface="游ゴシック"/>
              </a:rPr>
              <a:t>  弱点は「人×科目」の組み合わせで</a:t>
            </a:r>
          </a:p>
          <a:p>
            <a:pPr algn="l">
              <a:spcAft>
                <a:spcPts val="300"/>
              </a:spcAft>
            </a:pPr>
            <a:r>
              <a:rPr sz="1200" b="0">
                <a:solidFill>
                  <a:srgbClr val="444444"/>
                </a:solidFill>
                <a:latin typeface="游ゴシック"/>
              </a:rPr>
              <a:t>  特定できる。全員一律の研修より</a:t>
            </a:r>
          </a:p>
          <a:p>
            <a:pPr algn="l">
              <a:spcAft>
                <a:spcPts val="300"/>
              </a:spcAft>
            </a:pPr>
            <a:r>
              <a:rPr sz="1200" b="0">
                <a:solidFill>
                  <a:srgbClr val="444444"/>
                </a:solidFill>
                <a:latin typeface="游ゴシック"/>
              </a:rPr>
              <a:t>  弱点科目への個別フォローが</a:t>
            </a:r>
          </a:p>
          <a:p>
            <a:pPr algn="l">
              <a:spcAft>
                <a:spcPts val="300"/>
              </a:spcAft>
            </a:pPr>
            <a:r>
              <a:rPr sz="1200" b="0">
                <a:solidFill>
                  <a:srgbClr val="444444"/>
                </a:solidFill>
                <a:latin typeface="游ゴシック"/>
              </a:rPr>
              <a:t>  最短で全体平均を引き上げる。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課題2｜スコア分布・成長幅ランキング（学校データ）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箱ひげ図（分布）＋横棒グラフ（初日→最終日の変化）</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ph6_boxplot_growth.png"/>
          <p:cNvPicPr>
            <a:picLocks noChangeAspect="1"/>
          </p:cNvPicPr>
          <p:nvPr/>
        </p:nvPicPr>
        <p:blipFill>
          <a:blip r:embed="rId2"/>
          <a:stretch>
            <a:fillRect/>
          </a:stretch>
        </p:blipFill>
        <p:spPr>
          <a:xfrm>
            <a:off x="274320" y="1051560"/>
            <a:ext cx="11612880" cy="53492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課題2｜受講者別パフォーマンス詳細（学校データ）</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平均・成長幅・弱点・推奨施策</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274320" y="1097280"/>
          <a:ext cx="11612880" cy="320040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533400">
                <a:tc>
                  <a:txBody>
                    <a:bodyPr/>
                    <a:lstStyle/>
                    <a:p>
                      <a:pPr algn="ctr"/>
                      <a:r>
                        <a:rPr sz="1100" b="1">
                          <a:solidFill>
                            <a:srgbClr val="FFFFFF"/>
                          </a:solidFill>
                          <a:latin typeface="游ゴシック"/>
                        </a:rPr>
                        <a:t>名前</a:t>
                      </a:r>
                    </a:p>
                  </a:txBody>
                  <a:tcPr>
                    <a:solidFill>
                      <a:srgbClr val="1A2F5E"/>
                    </a:solidFill>
                  </a:tcPr>
                </a:tc>
                <a:tc>
                  <a:txBody>
                    <a:bodyPr/>
                    <a:lstStyle/>
                    <a:p>
                      <a:pPr algn="ctr"/>
                      <a:r>
                        <a:rPr sz="1100" b="1">
                          <a:solidFill>
                            <a:srgbClr val="FFFFFF"/>
                          </a:solidFill>
                          <a:latin typeface="游ゴシック"/>
                        </a:rPr>
                        <a:t>平均</a:t>
                      </a:r>
                    </a:p>
                  </a:txBody>
                  <a:tcPr>
                    <a:solidFill>
                      <a:srgbClr val="1A2F5E"/>
                    </a:solidFill>
                  </a:tcPr>
                </a:tc>
                <a:tc>
                  <a:txBody>
                    <a:bodyPr/>
                    <a:lstStyle/>
                    <a:p>
                      <a:pPr algn="ctr"/>
                      <a:r>
                        <a:rPr sz="1100" b="1">
                          <a:solidFill>
                            <a:srgbClr val="FFFFFF"/>
                          </a:solidFill>
                          <a:latin typeface="游ゴシック"/>
                        </a:rPr>
                        <a:t>成長幅</a:t>
                      </a:r>
                    </a:p>
                  </a:txBody>
                  <a:tcPr>
                    <a:solidFill>
                      <a:srgbClr val="1A2F5E"/>
                    </a:solidFill>
                  </a:tcPr>
                </a:tc>
                <a:tc>
                  <a:txBody>
                    <a:bodyPr/>
                    <a:lstStyle/>
                    <a:p>
                      <a:pPr algn="ctr"/>
                      <a:r>
                        <a:rPr sz="1100" b="1">
                          <a:solidFill>
                            <a:srgbClr val="FFFFFF"/>
                          </a:solidFill>
                          <a:latin typeface="游ゴシック"/>
                        </a:rPr>
                        <a:t>強み科目</a:t>
                      </a:r>
                    </a:p>
                  </a:txBody>
                  <a:tcPr>
                    <a:solidFill>
                      <a:srgbClr val="1A2F5E"/>
                    </a:solidFill>
                  </a:tcPr>
                </a:tc>
                <a:tc>
                  <a:txBody>
                    <a:bodyPr/>
                    <a:lstStyle/>
                    <a:p>
                      <a:pPr algn="ctr"/>
                      <a:r>
                        <a:rPr sz="1100" b="1">
                          <a:solidFill>
                            <a:srgbClr val="FFFFFF"/>
                          </a:solidFill>
                          <a:latin typeface="游ゴシック"/>
                        </a:rPr>
                        <a:t>弱点科目</a:t>
                      </a:r>
                    </a:p>
                  </a:txBody>
                  <a:tcPr>
                    <a:solidFill>
                      <a:srgbClr val="1A2F5E"/>
                    </a:solidFill>
                  </a:tcPr>
                </a:tc>
                <a:tc>
                  <a:txBody>
                    <a:bodyPr/>
                    <a:lstStyle/>
                    <a:p>
                      <a:pPr algn="ctr"/>
                      <a:r>
                        <a:rPr sz="1100" b="1">
                          <a:solidFill>
                            <a:srgbClr val="FFFFFF"/>
                          </a:solidFill>
                          <a:latin typeface="游ゴシック"/>
                        </a:rPr>
                        <a:t>総合評価・推奨施策</a:t>
                      </a:r>
                    </a:p>
                  </a:txBody>
                  <a:tcPr>
                    <a:solidFill>
                      <a:srgbClr val="1A2F5E"/>
                    </a:solidFill>
                  </a:tcPr>
                </a:tc>
              </a:tr>
              <a:tr h="533400">
                <a:tc>
                  <a:txBody>
                    <a:bodyPr/>
                    <a:lstStyle/>
                    <a:p>
                      <a:pPr algn="ctr"/>
                      <a:r>
                        <a:rPr sz="1100" b="0">
                          <a:solidFill>
                            <a:srgbClr val="444444"/>
                          </a:solidFill>
                          <a:latin typeface="游ゴシック"/>
                        </a:rPr>
                        <a:t>高橋花子</a:t>
                      </a:r>
                    </a:p>
                  </a:txBody>
                  <a:tcPr>
                    <a:solidFill>
                      <a:srgbClr val="F5F5F5"/>
                    </a:solidFill>
                  </a:tcPr>
                </a:tc>
                <a:tc>
                  <a:txBody>
                    <a:bodyPr/>
                    <a:lstStyle/>
                    <a:p>
                      <a:pPr algn="ctr"/>
                      <a:r>
                        <a:rPr sz="1100" b="0">
                          <a:solidFill>
                            <a:srgbClr val="444444"/>
                          </a:solidFill>
                          <a:latin typeface="游ゴシック"/>
                        </a:rPr>
                        <a:t>92.0点</a:t>
                      </a:r>
                    </a:p>
                  </a:txBody>
                  <a:tcPr>
                    <a:solidFill>
                      <a:srgbClr val="F5F5F5"/>
                    </a:solidFill>
                  </a:tcPr>
                </a:tc>
                <a:tc>
                  <a:txBody>
                    <a:bodyPr/>
                    <a:lstStyle/>
                    <a:p>
                      <a:pPr algn="ctr"/>
                      <a:r>
                        <a:rPr sz="1100" b="0">
                          <a:solidFill>
                            <a:srgbClr val="444444"/>
                          </a:solidFill>
                          <a:latin typeface="游ゴシック"/>
                        </a:rPr>
                        <a:t>▼ −2.0点</a:t>
                      </a:r>
                    </a:p>
                  </a:txBody>
                  <a:tcPr>
                    <a:solidFill>
                      <a:srgbClr val="F5F5F5"/>
                    </a:solidFill>
                  </a:tcPr>
                </a:tc>
                <a:tc>
                  <a:txBody>
                    <a:bodyPr/>
                    <a:lstStyle/>
                    <a:p>
                      <a:pPr algn="ctr"/>
                      <a:r>
                        <a:rPr sz="1100" b="0">
                          <a:solidFill>
                            <a:srgbClr val="444444"/>
                          </a:solidFill>
                          <a:latin typeface="游ゴシック"/>
                        </a:rPr>
                        <a:t>理科96点</a:t>
                      </a:r>
                    </a:p>
                  </a:txBody>
                  <a:tcPr>
                    <a:solidFill>
                      <a:srgbClr val="F5F5F5"/>
                    </a:solidFill>
                  </a:tcPr>
                </a:tc>
                <a:tc>
                  <a:txBody>
                    <a:bodyPr/>
                    <a:lstStyle/>
                    <a:p>
                      <a:pPr algn="ctr"/>
                      <a:r>
                        <a:rPr sz="1100" b="0">
                          <a:solidFill>
                            <a:srgbClr val="444444"/>
                          </a:solidFill>
                          <a:latin typeface="游ゴシック"/>
                        </a:rPr>
                        <a:t>後半失速</a:t>
                      </a:r>
                    </a:p>
                  </a:txBody>
                  <a:tcPr>
                    <a:solidFill>
                      <a:srgbClr val="F5F5F5"/>
                    </a:solidFill>
                  </a:tcPr>
                </a:tc>
                <a:tc>
                  <a:txBody>
                    <a:bodyPr/>
                    <a:lstStyle/>
                    <a:p>
                      <a:pPr algn="ctr"/>
                      <a:r>
                        <a:rPr sz="1100" b="0">
                          <a:solidFill>
                            <a:srgbClr val="444444"/>
                          </a:solidFill>
                          <a:latin typeface="游ゴシック"/>
                        </a:rPr>
                        <a:t>トップ層。発展コンテンツ・上位資格挑戦で天井突破を狙う</a:t>
                      </a:r>
                    </a:p>
                  </a:txBody>
                  <a:tcPr>
                    <a:solidFill>
                      <a:srgbClr val="F5F5F5"/>
                    </a:solidFill>
                  </a:tcPr>
                </a:tc>
              </a:tr>
              <a:tr h="533400">
                <a:tc>
                  <a:txBody>
                    <a:bodyPr/>
                    <a:lstStyle/>
                    <a:p>
                      <a:pPr algn="ctr"/>
                      <a:r>
                        <a:rPr sz="1100" b="0">
                          <a:solidFill>
                            <a:srgbClr val="444444"/>
                          </a:solidFill>
                          <a:latin typeface="游ゴシック"/>
                        </a:rPr>
                        <a:t>鈴木花子</a:t>
                      </a:r>
                    </a:p>
                  </a:txBody>
                  <a:tcPr>
                    <a:solidFill>
                      <a:srgbClr val="FFFFFF"/>
                    </a:solidFill>
                  </a:tcPr>
                </a:tc>
                <a:tc>
                  <a:txBody>
                    <a:bodyPr/>
                    <a:lstStyle/>
                    <a:p>
                      <a:pPr algn="ctr"/>
                      <a:r>
                        <a:rPr sz="1100" b="0">
                          <a:solidFill>
                            <a:srgbClr val="444444"/>
                          </a:solidFill>
                          <a:latin typeface="游ゴシック"/>
                        </a:rPr>
                        <a:t>88.6点</a:t>
                      </a:r>
                    </a:p>
                  </a:txBody>
                  <a:tcPr>
                    <a:solidFill>
                      <a:srgbClr val="FFFFFF"/>
                    </a:solidFill>
                  </a:tcPr>
                </a:tc>
                <a:tc>
                  <a:txBody>
                    <a:bodyPr/>
                    <a:lstStyle/>
                    <a:p>
                      <a:pPr algn="ctr"/>
                      <a:r>
                        <a:rPr sz="1100" b="0">
                          <a:solidFill>
                            <a:srgbClr val="444444"/>
                          </a:solidFill>
                          <a:latin typeface="游ゴシック"/>
                        </a:rPr>
                        <a:t>▲ +4.7点</a:t>
                      </a:r>
                    </a:p>
                  </a:txBody>
                  <a:tcPr>
                    <a:solidFill>
                      <a:srgbClr val="FFFFFF"/>
                    </a:solidFill>
                  </a:tcPr>
                </a:tc>
                <a:tc>
                  <a:txBody>
                    <a:bodyPr/>
                    <a:lstStyle/>
                    <a:p>
                      <a:pPr algn="ctr"/>
                      <a:r>
                        <a:rPr sz="1100" b="0">
                          <a:solidFill>
                            <a:srgbClr val="444444"/>
                          </a:solidFill>
                          <a:latin typeface="游ゴシック"/>
                        </a:rPr>
                        <a:t>英語92点</a:t>
                      </a:r>
                    </a:p>
                  </a:txBody>
                  <a:tcPr>
                    <a:solidFill>
                      <a:srgbClr val="FFFFFF"/>
                    </a:solidFill>
                  </a:tcPr>
                </a:tc>
                <a:tc>
                  <a:txBody>
                    <a:bodyPr/>
                    <a:lstStyle/>
                    <a:p>
                      <a:pPr algn="ctr"/>
                      <a:r>
                        <a:rPr sz="1100" b="0">
                          <a:solidFill>
                            <a:srgbClr val="444444"/>
                          </a:solidFill>
                          <a:latin typeface="游ゴシック"/>
                        </a:rPr>
                        <a:t>理科80点</a:t>
                      </a:r>
                    </a:p>
                  </a:txBody>
                  <a:tcPr>
                    <a:solidFill>
                      <a:srgbClr val="FFFFFF"/>
                    </a:solidFill>
                  </a:tcPr>
                </a:tc>
                <a:tc>
                  <a:txBody>
                    <a:bodyPr/>
                    <a:lstStyle/>
                    <a:p>
                      <a:pPr algn="ctr"/>
                      <a:r>
                        <a:rPr sz="1100" b="0">
                          <a:solidFill>
                            <a:srgbClr val="444444"/>
                          </a:solidFill>
                          <a:latin typeface="游ゴシック"/>
                        </a:rPr>
                        <a:t>安定した高水準。理科の強化で全科目90点台が射程圏内</a:t>
                      </a:r>
                    </a:p>
                  </a:txBody>
                  <a:tcPr>
                    <a:solidFill>
                      <a:srgbClr val="FFFFFF"/>
                    </a:solidFill>
                  </a:tcPr>
                </a:tc>
              </a:tr>
              <a:tr h="533400">
                <a:tc>
                  <a:txBody>
                    <a:bodyPr/>
                    <a:lstStyle/>
                    <a:p>
                      <a:pPr algn="ctr"/>
                      <a:r>
                        <a:rPr sz="1100" b="0">
                          <a:solidFill>
                            <a:srgbClr val="444444"/>
                          </a:solidFill>
                          <a:latin typeface="游ゴシック"/>
                        </a:rPr>
                        <a:t>田中一郎</a:t>
                      </a:r>
                    </a:p>
                  </a:txBody>
                  <a:tcPr>
                    <a:solidFill>
                      <a:srgbClr val="F5F5F5"/>
                    </a:solidFill>
                  </a:tcPr>
                </a:tc>
                <a:tc>
                  <a:txBody>
                    <a:bodyPr/>
                    <a:lstStyle/>
                    <a:p>
                      <a:pPr algn="ctr"/>
                      <a:r>
                        <a:rPr sz="1100" b="0">
                          <a:solidFill>
                            <a:srgbClr val="444444"/>
                          </a:solidFill>
                          <a:latin typeface="游ゴシック"/>
                        </a:rPr>
                        <a:t>87.5点</a:t>
                      </a:r>
                    </a:p>
                  </a:txBody>
                  <a:tcPr>
                    <a:solidFill>
                      <a:srgbClr val="F5F5F5"/>
                    </a:solidFill>
                  </a:tcPr>
                </a:tc>
                <a:tc>
                  <a:txBody>
                    <a:bodyPr/>
                    <a:lstStyle/>
                    <a:p>
                      <a:pPr algn="ctr"/>
                      <a:r>
                        <a:rPr sz="1100" b="0">
                          <a:solidFill>
                            <a:srgbClr val="444444"/>
                          </a:solidFill>
                          <a:latin typeface="游ゴシック"/>
                        </a:rPr>
                        <a:t>▲ +9.3点</a:t>
                      </a:r>
                    </a:p>
                  </a:txBody>
                  <a:tcPr>
                    <a:solidFill>
                      <a:srgbClr val="F5F5F5"/>
                    </a:solidFill>
                  </a:tcPr>
                </a:tc>
                <a:tc>
                  <a:txBody>
                    <a:bodyPr/>
                    <a:lstStyle/>
                    <a:p>
                      <a:pPr algn="ctr"/>
                      <a:r>
                        <a:rPr sz="1100" b="0">
                          <a:solidFill>
                            <a:srgbClr val="444444"/>
                          </a:solidFill>
                          <a:latin typeface="游ゴシック"/>
                        </a:rPr>
                        <a:t>社会90点</a:t>
                      </a:r>
                    </a:p>
                  </a:txBody>
                  <a:tcPr>
                    <a:solidFill>
                      <a:srgbClr val="F5F5F5"/>
                    </a:solidFill>
                  </a:tcPr>
                </a:tc>
                <a:tc>
                  <a:txBody>
                    <a:bodyPr/>
                    <a:lstStyle/>
                    <a:p>
                      <a:pPr algn="ctr"/>
                      <a:r>
                        <a:rPr sz="1100" b="0">
                          <a:solidFill>
                            <a:srgbClr val="444444"/>
                          </a:solidFill>
                          <a:latin typeface="游ゴシック"/>
                        </a:rPr>
                        <a:t>数学83点</a:t>
                      </a:r>
                    </a:p>
                  </a:txBody>
                  <a:tcPr>
                    <a:solidFill>
                      <a:srgbClr val="F5F5F5"/>
                    </a:solidFill>
                  </a:tcPr>
                </a:tc>
                <a:tc>
                  <a:txBody>
                    <a:bodyPr/>
                    <a:lstStyle/>
                    <a:p>
                      <a:pPr algn="ctr"/>
                      <a:r>
                        <a:rPr sz="1100" b="0">
                          <a:solidFill>
                            <a:srgbClr val="444444"/>
                          </a:solidFill>
                          <a:latin typeface="游ゴシック"/>
                        </a:rPr>
                        <a:t>最大成長率。継続投資のROI最大。数学底上げで90点台狙い</a:t>
                      </a:r>
                    </a:p>
                  </a:txBody>
                  <a:tcPr>
                    <a:solidFill>
                      <a:srgbClr val="F5F5F5"/>
                    </a:solidFill>
                  </a:tcPr>
                </a:tc>
              </a:tr>
              <a:tr h="533400">
                <a:tc>
                  <a:txBody>
                    <a:bodyPr/>
                    <a:lstStyle/>
                    <a:p>
                      <a:pPr algn="ctr"/>
                      <a:r>
                        <a:rPr sz="1100" b="0">
                          <a:solidFill>
                            <a:srgbClr val="444444"/>
                          </a:solidFill>
                          <a:latin typeface="游ゴシック"/>
                        </a:rPr>
                        <a:t>山田太郎</a:t>
                      </a:r>
                    </a:p>
                  </a:txBody>
                  <a:tcPr>
                    <a:solidFill>
                      <a:srgbClr val="FFFFFF"/>
                    </a:solidFill>
                  </a:tcPr>
                </a:tc>
                <a:tc>
                  <a:txBody>
                    <a:bodyPr/>
                    <a:lstStyle/>
                    <a:p>
                      <a:pPr algn="ctr"/>
                      <a:r>
                        <a:rPr sz="1100" b="0">
                          <a:solidFill>
                            <a:srgbClr val="444444"/>
                          </a:solidFill>
                          <a:latin typeface="游ゴシック"/>
                        </a:rPr>
                        <a:t>83.6点</a:t>
                      </a:r>
                    </a:p>
                  </a:txBody>
                  <a:tcPr>
                    <a:solidFill>
                      <a:srgbClr val="FFFFFF"/>
                    </a:solidFill>
                  </a:tcPr>
                </a:tc>
                <a:tc>
                  <a:txBody>
                    <a:bodyPr/>
                    <a:lstStyle/>
                    <a:p>
                      <a:pPr algn="ctr"/>
                      <a:r>
                        <a:rPr sz="1100" b="0">
                          <a:solidFill>
                            <a:srgbClr val="444444"/>
                          </a:solidFill>
                          <a:latin typeface="游ゴシック"/>
                        </a:rPr>
                        <a:t>▲ +3.0点</a:t>
                      </a:r>
                    </a:p>
                  </a:txBody>
                  <a:tcPr>
                    <a:solidFill>
                      <a:srgbClr val="FFFFFF"/>
                    </a:solidFill>
                  </a:tcPr>
                </a:tc>
                <a:tc>
                  <a:txBody>
                    <a:bodyPr/>
                    <a:lstStyle/>
                    <a:p>
                      <a:pPr algn="ctr"/>
                      <a:r>
                        <a:rPr sz="1100" b="0">
                          <a:solidFill>
                            <a:srgbClr val="444444"/>
                          </a:solidFill>
                          <a:latin typeface="游ゴシック"/>
                        </a:rPr>
                        <a:t>国語91点</a:t>
                      </a:r>
                    </a:p>
                  </a:txBody>
                  <a:tcPr>
                    <a:solidFill>
                      <a:srgbClr val="FFFFFF"/>
                    </a:solidFill>
                  </a:tcPr>
                </a:tc>
                <a:tc>
                  <a:txBody>
                    <a:bodyPr/>
                    <a:lstStyle/>
                    <a:p>
                      <a:pPr algn="ctr"/>
                      <a:r>
                        <a:rPr sz="1100" b="0">
                          <a:solidFill>
                            <a:srgbClr val="444444"/>
                          </a:solidFill>
                          <a:latin typeface="游ゴシック"/>
                        </a:rPr>
                        <a:t>国語75点※</a:t>
                      </a:r>
                    </a:p>
                  </a:txBody>
                  <a:tcPr>
                    <a:solidFill>
                      <a:srgbClr val="FFFFFF"/>
                    </a:solidFill>
                  </a:tcPr>
                </a:tc>
                <a:tc>
                  <a:txBody>
                    <a:bodyPr/>
                    <a:lstStyle/>
                    <a:p>
                      <a:pPr algn="ctr"/>
                      <a:r>
                        <a:rPr sz="1100" b="0">
                          <a:solidFill>
                            <a:srgbClr val="444444"/>
                          </a:solidFill>
                          <a:latin typeface="游ゴシック"/>
                        </a:rPr>
                        <a:t>ばらつきが課題。得意科目の安定化と苦手科目の反復練習を</a:t>
                      </a:r>
                    </a:p>
                  </a:txBody>
                  <a:tcPr>
                    <a:solidFill>
                      <a:srgbClr val="FFFFFF"/>
                    </a:solidFill>
                  </a:tcPr>
                </a:tc>
              </a:tr>
              <a:tr h="533400">
                <a:tc>
                  <a:txBody>
                    <a:bodyPr/>
                    <a:lstStyle/>
                    <a:p>
                      <a:pPr algn="ctr"/>
                      <a:r>
                        <a:rPr sz="1100" b="0">
                          <a:solidFill>
                            <a:srgbClr val="444444"/>
                          </a:solidFill>
                          <a:latin typeface="游ゴシック"/>
                        </a:rPr>
                        <a:t>佐藤次郎</a:t>
                      </a:r>
                    </a:p>
                  </a:txBody>
                  <a:tcPr>
                    <a:solidFill>
                      <a:srgbClr val="F5F5F5"/>
                    </a:solidFill>
                  </a:tcPr>
                </a:tc>
                <a:tc>
                  <a:txBody>
                    <a:bodyPr/>
                    <a:lstStyle/>
                    <a:p>
                      <a:pPr algn="ctr"/>
                      <a:r>
                        <a:rPr sz="1100" b="0">
                          <a:solidFill>
                            <a:srgbClr val="444444"/>
                          </a:solidFill>
                          <a:latin typeface="游ゴシック"/>
                        </a:rPr>
                        <a:t>73.1点</a:t>
                      </a:r>
                    </a:p>
                  </a:txBody>
                  <a:tcPr>
                    <a:solidFill>
                      <a:srgbClr val="F5F5F5"/>
                    </a:solidFill>
                  </a:tcPr>
                </a:tc>
                <a:tc>
                  <a:txBody>
                    <a:bodyPr/>
                    <a:lstStyle/>
                    <a:p>
                      <a:pPr algn="ctr"/>
                      <a:r>
                        <a:rPr sz="1100" b="0">
                          <a:solidFill>
                            <a:srgbClr val="444444"/>
                          </a:solidFill>
                          <a:latin typeface="游ゴシック"/>
                        </a:rPr>
                        <a:t>▲ +6.0点</a:t>
                      </a:r>
                    </a:p>
                  </a:txBody>
                  <a:tcPr>
                    <a:solidFill>
                      <a:srgbClr val="F5F5F5"/>
                    </a:solidFill>
                  </a:tcPr>
                </a:tc>
                <a:tc>
                  <a:txBody>
                    <a:bodyPr/>
                    <a:lstStyle/>
                    <a:p>
                      <a:pPr algn="ctr"/>
                      <a:r>
                        <a:rPr sz="1100" b="0">
                          <a:solidFill>
                            <a:srgbClr val="444444"/>
                          </a:solidFill>
                          <a:latin typeface="游ゴシック"/>
                        </a:rPr>
                        <a:t>英語80点</a:t>
                      </a:r>
                    </a:p>
                  </a:txBody>
                  <a:tcPr>
                    <a:solidFill>
                      <a:srgbClr val="F5F5F5"/>
                    </a:solidFill>
                  </a:tcPr>
                </a:tc>
                <a:tc>
                  <a:txBody>
                    <a:bodyPr/>
                    <a:lstStyle/>
                    <a:p>
                      <a:pPr algn="ctr"/>
                      <a:r>
                        <a:rPr sz="1100" b="0">
                          <a:solidFill>
                            <a:srgbClr val="444444"/>
                          </a:solidFill>
                          <a:latin typeface="游ゴシック"/>
                        </a:rPr>
                        <a:t>国語65点</a:t>
                      </a:r>
                    </a:p>
                  </a:txBody>
                  <a:tcPr>
                    <a:solidFill>
                      <a:srgbClr val="F5F5F5"/>
                    </a:solidFill>
                  </a:tcPr>
                </a:tc>
                <a:tc>
                  <a:txBody>
                    <a:bodyPr/>
                    <a:lstStyle/>
                    <a:p>
                      <a:pPr algn="ctr"/>
                      <a:r>
                        <a:rPr sz="1100" b="0">
                          <a:solidFill>
                            <a:srgbClr val="444444"/>
                          </a:solidFill>
                          <a:latin typeface="游ゴシック"/>
                        </a:rPr>
                        <a:t>国語・社会が弱点の根本。文系科目への個別集中フォロー必須</a:t>
                      </a:r>
                    </a:p>
                  </a:txBody>
                  <a:tcPr>
                    <a:solidFill>
                      <a:srgbClr val="F5F5F5"/>
                    </a:solidFill>
                  </a:tcPr>
                </a:tc>
              </a:tr>
            </a:tbl>
          </a:graphicData>
        </a:graphic>
      </p:graphicFrame>
      <p:sp>
        <p:nvSpPr>
          <p:cNvPr id="8" name="TextBox 7"/>
          <p:cNvSpPr txBox="1"/>
          <p:nvPr/>
        </p:nvSpPr>
        <p:spPr>
          <a:xfrm>
            <a:off x="274320" y="4343400"/>
            <a:ext cx="11612880" cy="365760"/>
          </a:xfrm>
          <a:prstGeom prst="rect">
            <a:avLst/>
          </a:prstGeom>
          <a:noFill/>
        </p:spPr>
        <p:txBody>
          <a:bodyPr wrap="square">
            <a:spAutoFit/>
          </a:bodyPr>
          <a:lstStyle/>
          <a:p>
            <a:pPr algn="l"/>
            <a:r>
              <a:rPr sz="1100" b="0" i="1">
                <a:solidFill>
                  <a:srgbClr val="888888"/>
                </a:solidFill>
                <a:latin typeface="游ゴシック"/>
              </a:rPr>
              <a:t>※ 山田太郎の国語は初回75点→後半91点まで改善。反復学習の効果が最も顕著に現れた科目。</a:t>
            </a:r>
          </a:p>
        </p:txBody>
      </p:sp>
      <p:sp>
        <p:nvSpPr>
          <p:cNvPr id="9" name="TextBox 8"/>
          <p:cNvSpPr txBox="1"/>
          <p:nvPr/>
        </p:nvSpPr>
        <p:spPr>
          <a:xfrm>
            <a:off x="274320" y="4754880"/>
            <a:ext cx="11612880" cy="1691640"/>
          </a:xfrm>
          <a:prstGeom prst="rect">
            <a:avLst/>
          </a:prstGeom>
          <a:noFill/>
        </p:spPr>
        <p:txBody>
          <a:bodyPr wrap="square">
            <a:spAutoFit/>
          </a:bodyPr>
          <a:lstStyle/>
          <a:p>
            <a:pPr algn="l">
              <a:spcAft>
                <a:spcPts val="300"/>
              </a:spcAft>
            </a:pPr>
            <a:r>
              <a:rPr sz="1200" b="0">
                <a:solidFill>
                  <a:srgbClr val="444444"/>
                </a:solidFill>
                <a:latin typeface="游ゴシック"/>
              </a:rPr>
              <a:t>▶  田中一郎の「成長率+9.3点」は単なる数値ではなく、学習への適性が高い人材であることを示す。継続的なプログラムへの参加で組織の次世代リーダー候補として育成できる。</a:t>
            </a:r>
          </a:p>
          <a:p>
            <a:pPr algn="l">
              <a:spcAft>
                <a:spcPts val="300"/>
              </a:spcAft>
            </a:pPr>
            <a:r>
              <a:rPr sz="1200" b="0">
                <a:solidFill>
                  <a:srgbClr val="444444"/>
                </a:solidFill>
                <a:latin typeface="游ゴシック"/>
              </a:rPr>
              <a:t>▶  佐藤次郎の国語65点・社会68点は他受講者と比べて突出して低く、個別フォローなしの改善は見込みにくい。グループ学習に加え1on1セッションを並走させることを推奨する。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8686800" cy="594360"/>
          </a:xfrm>
          <a:prstGeom prst="rect">
            <a:avLst/>
          </a:prstGeom>
          <a:noFill/>
        </p:spPr>
        <p:txBody>
          <a:bodyPr wrap="square">
            <a:spAutoFit/>
          </a:bodyPr>
          <a:lstStyle/>
          <a:p>
            <a:pPr algn="l"/>
            <a:r>
              <a:rPr sz="2600" b="1" i="0">
                <a:solidFill>
                  <a:srgbClr val="FFFFFF"/>
                </a:solidFill>
                <a:latin typeface="游ゴシック"/>
              </a:rPr>
              <a:t>統合インサイト｜優先推奨アクション</a:t>
            </a:r>
          </a:p>
        </p:txBody>
      </p:sp>
      <p:sp>
        <p:nvSpPr>
          <p:cNvPr id="5" name="TextBox 4"/>
          <p:cNvSpPr txBox="1"/>
          <p:nvPr/>
        </p:nvSpPr>
        <p:spPr>
          <a:xfrm>
            <a:off x="320040" y="612648"/>
            <a:ext cx="8686800" cy="347472"/>
          </a:xfrm>
          <a:prstGeom prst="rect">
            <a:avLst/>
          </a:prstGeom>
          <a:noFill/>
        </p:spPr>
        <p:txBody>
          <a:bodyPr wrap="square">
            <a:spAutoFit/>
          </a:bodyPr>
          <a:lstStyle/>
          <a:p>
            <a:pPr algn="l"/>
            <a:r>
              <a:rPr sz="1200" b="0" i="0">
                <a:solidFill>
                  <a:srgbClr val="D6E4F7"/>
                </a:solidFill>
                <a:latin typeface="游ゴシック"/>
              </a:rPr>
              <a:t>課題2・課題3 マーケティング観点 総括</a:t>
            </a:r>
          </a:p>
        </p:txBody>
      </p:sp>
      <p:sp>
        <p:nvSpPr>
          <p:cNvPr id="6" name="Rectangle 5"/>
          <p:cNvSpPr/>
          <p:nvPr/>
        </p:nvSpPr>
        <p:spPr>
          <a:xfrm>
            <a:off x="0" y="6565392"/>
            <a:ext cx="12188952" cy="292608"/>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97280"/>
            <a:ext cx="502920" cy="9601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353312"/>
            <a:ext cx="502920" cy="457200"/>
          </a:xfrm>
          <a:prstGeom prst="rect">
            <a:avLst/>
          </a:prstGeom>
          <a:noFill/>
        </p:spPr>
        <p:txBody>
          <a:bodyPr wrap="square">
            <a:spAutoFit/>
          </a:bodyPr>
          <a:lstStyle/>
          <a:p>
            <a:pPr algn="ctr"/>
            <a:r>
              <a:rPr sz="1100" b="1" i="0">
                <a:solidFill>
                  <a:srgbClr val="FFFFFF"/>
                </a:solidFill>
                <a:latin typeface="游ゴシック"/>
              </a:rPr>
              <a:t>★★★</a:t>
            </a:r>
          </a:p>
        </p:txBody>
      </p:sp>
      <p:sp>
        <p:nvSpPr>
          <p:cNvPr id="9" name="Rectangle 8"/>
          <p:cNvSpPr/>
          <p:nvPr/>
        </p:nvSpPr>
        <p:spPr>
          <a:xfrm>
            <a:off x="822960" y="1097280"/>
            <a:ext cx="1106424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152144"/>
            <a:ext cx="10789920" cy="365760"/>
          </a:xfrm>
          <a:prstGeom prst="rect">
            <a:avLst/>
          </a:prstGeom>
          <a:noFill/>
        </p:spPr>
        <p:txBody>
          <a:bodyPr wrap="square">
            <a:spAutoFit/>
          </a:bodyPr>
          <a:lstStyle/>
          <a:p>
            <a:pPr algn="l"/>
            <a:r>
              <a:rPr sz="1300" b="1" i="0">
                <a:solidFill>
                  <a:srgbClr val="1A2F5E"/>
                </a:solidFill>
                <a:latin typeface="游ゴシック"/>
              </a:rPr>
              <a:t>人事部門への集中支援（最優先）</a:t>
            </a:r>
          </a:p>
        </p:txBody>
      </p:sp>
      <p:sp>
        <p:nvSpPr>
          <p:cNvPr id="11" name="TextBox 10"/>
          <p:cNvSpPr txBox="1"/>
          <p:nvPr/>
        </p:nvSpPr>
        <p:spPr>
          <a:xfrm>
            <a:off x="960120" y="1536192"/>
            <a:ext cx="10789920" cy="502920"/>
          </a:xfrm>
          <a:prstGeom prst="rect">
            <a:avLst/>
          </a:prstGeom>
          <a:noFill/>
        </p:spPr>
        <p:txBody>
          <a:bodyPr wrap="square">
            <a:spAutoFit/>
          </a:bodyPr>
          <a:lstStyle/>
          <a:p>
            <a:pPr algn="l"/>
            <a:r>
              <a:rPr sz="1100" b="0" i="0">
                <a:solidFill>
                  <a:srgbClr val="444444"/>
                </a:solidFill>
                <a:latin typeface="游ゴシック"/>
              </a:rPr>
              <a:t>全体平均比 −5.6点。7名全員が低水準に均質化しており自然回復は困難。外部研修・個別コーチングを即時投入。人事の改善は採用品質→組織力→全部門のパフォーマンスに連鎖する。</a:t>
            </a:r>
          </a:p>
        </p:txBody>
      </p:sp>
      <p:sp>
        <p:nvSpPr>
          <p:cNvPr id="12" name="Rectangle 11"/>
          <p:cNvSpPr/>
          <p:nvPr/>
        </p:nvSpPr>
        <p:spPr>
          <a:xfrm>
            <a:off x="274320" y="2194560"/>
            <a:ext cx="502920" cy="9601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450591"/>
            <a:ext cx="502920" cy="457200"/>
          </a:xfrm>
          <a:prstGeom prst="rect">
            <a:avLst/>
          </a:prstGeom>
          <a:noFill/>
        </p:spPr>
        <p:txBody>
          <a:bodyPr wrap="square">
            <a:spAutoFit/>
          </a:bodyPr>
          <a:lstStyle/>
          <a:p>
            <a:pPr algn="ctr"/>
            <a:r>
              <a:rPr sz="1100" b="1" i="0">
                <a:solidFill>
                  <a:srgbClr val="FFFFFF"/>
                </a:solidFill>
                <a:latin typeface="游ゴシック"/>
              </a:rPr>
              <a:t>★★★</a:t>
            </a:r>
          </a:p>
        </p:txBody>
      </p:sp>
      <p:sp>
        <p:nvSpPr>
          <p:cNvPr id="14" name="Rectangle 13"/>
          <p:cNvSpPr/>
          <p:nvPr/>
        </p:nvSpPr>
        <p:spPr>
          <a:xfrm>
            <a:off x="822960" y="2194560"/>
            <a:ext cx="110642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249424"/>
            <a:ext cx="10789920" cy="365760"/>
          </a:xfrm>
          <a:prstGeom prst="rect">
            <a:avLst/>
          </a:prstGeom>
          <a:noFill/>
        </p:spPr>
        <p:txBody>
          <a:bodyPr wrap="square">
            <a:spAutoFit/>
          </a:bodyPr>
          <a:lstStyle/>
          <a:p>
            <a:pPr algn="l"/>
            <a:r>
              <a:rPr sz="1300" b="1" i="0">
                <a:solidFill>
                  <a:srgbClr val="1A2F5E"/>
                </a:solidFill>
                <a:latin typeface="游ゴシック"/>
              </a:rPr>
              <a:t>営業ローパフォーマー4名の底上げ（最優先）</a:t>
            </a:r>
          </a:p>
        </p:txBody>
      </p:sp>
      <p:sp>
        <p:nvSpPr>
          <p:cNvPr id="16" name="TextBox 15"/>
          <p:cNvSpPr txBox="1"/>
          <p:nvPr/>
        </p:nvSpPr>
        <p:spPr>
          <a:xfrm>
            <a:off x="960120" y="2633472"/>
            <a:ext cx="10789920" cy="502920"/>
          </a:xfrm>
          <a:prstGeom prst="rect">
            <a:avLst/>
          </a:prstGeom>
          <a:noFill/>
        </p:spPr>
        <p:txBody>
          <a:bodyPr wrap="square">
            <a:spAutoFit/>
          </a:bodyPr>
          <a:lstStyle/>
          <a:p>
            <a:pPr algn="l"/>
            <a:r>
              <a:rPr sz="1100" b="0" i="0">
                <a:solidFill>
                  <a:srgbClr val="444444"/>
                </a:solidFill>
                <a:latin typeface="游ゴシック"/>
              </a:rPr>
              <a:t>ローパフォーマーが全部門最多で、最低70点と水準も低い。トップ営業（93点）のナレッジをOJT・ロープレで移転。営業力の組織化が直接的な収益安定化につながる。</a:t>
            </a:r>
          </a:p>
        </p:txBody>
      </p:sp>
      <p:sp>
        <p:nvSpPr>
          <p:cNvPr id="17" name="Rectangle 16"/>
          <p:cNvSpPr/>
          <p:nvPr/>
        </p:nvSpPr>
        <p:spPr>
          <a:xfrm>
            <a:off x="274320" y="3291839"/>
            <a:ext cx="502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3547872"/>
            <a:ext cx="502920" cy="457200"/>
          </a:xfrm>
          <a:prstGeom prst="rect">
            <a:avLst/>
          </a:prstGeom>
          <a:noFill/>
        </p:spPr>
        <p:txBody>
          <a:bodyPr wrap="square">
            <a:spAutoFit/>
          </a:bodyPr>
          <a:lstStyle/>
          <a:p>
            <a:pPr algn="ctr"/>
            <a:r>
              <a:rPr sz="1100" b="1" i="0">
                <a:solidFill>
                  <a:srgbClr val="FFFFFF"/>
                </a:solidFill>
                <a:latin typeface="游ゴシック"/>
              </a:rPr>
              <a:t>★★</a:t>
            </a:r>
          </a:p>
        </p:txBody>
      </p:sp>
      <p:sp>
        <p:nvSpPr>
          <p:cNvPr id="19" name="Rectangle 18"/>
          <p:cNvSpPr/>
          <p:nvPr/>
        </p:nvSpPr>
        <p:spPr>
          <a:xfrm>
            <a:off x="822960" y="3291839"/>
            <a:ext cx="1106424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346703"/>
            <a:ext cx="10789920" cy="365760"/>
          </a:xfrm>
          <a:prstGeom prst="rect">
            <a:avLst/>
          </a:prstGeom>
          <a:noFill/>
        </p:spPr>
        <p:txBody>
          <a:bodyPr wrap="square">
            <a:spAutoFit/>
          </a:bodyPr>
          <a:lstStyle/>
          <a:p>
            <a:pPr algn="l"/>
            <a:r>
              <a:rPr sz="1300" b="1" i="0">
                <a:solidFill>
                  <a:srgbClr val="1A2F5E"/>
                </a:solidFill>
                <a:latin typeface="游ゴシック"/>
              </a:rPr>
              <a:t>田中一郎への継続投資</a:t>
            </a:r>
          </a:p>
        </p:txBody>
      </p:sp>
      <p:sp>
        <p:nvSpPr>
          <p:cNvPr id="21" name="TextBox 20"/>
          <p:cNvSpPr txBox="1"/>
          <p:nvPr/>
        </p:nvSpPr>
        <p:spPr>
          <a:xfrm>
            <a:off x="960120" y="3730752"/>
            <a:ext cx="10789920" cy="502920"/>
          </a:xfrm>
          <a:prstGeom prst="rect">
            <a:avLst/>
          </a:prstGeom>
          <a:noFill/>
        </p:spPr>
        <p:txBody>
          <a:bodyPr wrap="square">
            <a:spAutoFit/>
          </a:bodyPr>
          <a:lstStyle/>
          <a:p>
            <a:pPr algn="l"/>
            <a:r>
              <a:rPr sz="1100" b="0" i="0">
                <a:solidFill>
                  <a:srgbClr val="444444"/>
                </a:solidFill>
                <a:latin typeface="游ゴシック"/>
              </a:rPr>
              <a:t>成長幅+9.3点は全受講者最大。学習適性が高く、今後のプログラム継続でさらなる成長が期待できる。組織の次世代リーダー候補として育成ロードマップを設計する。</a:t>
            </a:r>
          </a:p>
        </p:txBody>
      </p:sp>
      <p:sp>
        <p:nvSpPr>
          <p:cNvPr id="22" name="Rectangle 21"/>
          <p:cNvSpPr/>
          <p:nvPr/>
        </p:nvSpPr>
        <p:spPr>
          <a:xfrm>
            <a:off x="274320" y="4389120"/>
            <a:ext cx="502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645152"/>
            <a:ext cx="502920" cy="457200"/>
          </a:xfrm>
          <a:prstGeom prst="rect">
            <a:avLst/>
          </a:prstGeom>
          <a:noFill/>
        </p:spPr>
        <p:txBody>
          <a:bodyPr wrap="square">
            <a:spAutoFit/>
          </a:bodyPr>
          <a:lstStyle/>
          <a:p>
            <a:pPr algn="ctr"/>
            <a:r>
              <a:rPr sz="1100" b="1" i="0">
                <a:solidFill>
                  <a:srgbClr val="FFFFFF"/>
                </a:solidFill>
                <a:latin typeface="游ゴシック"/>
              </a:rPr>
              <a:t>★★</a:t>
            </a:r>
          </a:p>
        </p:txBody>
      </p:sp>
      <p:sp>
        <p:nvSpPr>
          <p:cNvPr id="24" name="Rectangle 23"/>
          <p:cNvSpPr/>
          <p:nvPr/>
        </p:nvSpPr>
        <p:spPr>
          <a:xfrm>
            <a:off x="822960" y="4389120"/>
            <a:ext cx="110642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443983"/>
            <a:ext cx="10789920" cy="365760"/>
          </a:xfrm>
          <a:prstGeom prst="rect">
            <a:avLst/>
          </a:prstGeom>
          <a:noFill/>
        </p:spPr>
        <p:txBody>
          <a:bodyPr wrap="square">
            <a:spAutoFit/>
          </a:bodyPr>
          <a:lstStyle/>
          <a:p>
            <a:pPr algn="l"/>
            <a:r>
              <a:rPr sz="1300" b="1" i="0">
                <a:solidFill>
                  <a:srgbClr val="1A2F5E"/>
                </a:solidFill>
                <a:latin typeface="游ゴシック"/>
              </a:rPr>
              <a:t>高橋花子に発展コンテンツを提供</a:t>
            </a:r>
          </a:p>
        </p:txBody>
      </p:sp>
      <p:sp>
        <p:nvSpPr>
          <p:cNvPr id="26" name="TextBox 25"/>
          <p:cNvSpPr txBox="1"/>
          <p:nvPr/>
        </p:nvSpPr>
        <p:spPr>
          <a:xfrm>
            <a:off x="960120" y="4828031"/>
            <a:ext cx="10789920" cy="502920"/>
          </a:xfrm>
          <a:prstGeom prst="rect">
            <a:avLst/>
          </a:prstGeom>
          <a:noFill/>
        </p:spPr>
        <p:txBody>
          <a:bodyPr wrap="square">
            <a:spAutoFit/>
          </a:bodyPr>
          <a:lstStyle/>
          <a:p>
            <a:pPr algn="l"/>
            <a:r>
              <a:rPr sz="1100" b="0" i="0">
                <a:solidFill>
                  <a:srgbClr val="444444"/>
                </a:solidFill>
                <a:latin typeface="游ゴシック"/>
              </a:rPr>
              <a:t>初日から92点超と突出した実力を持つが、後半に−2点の微減。天井効果・慣れによる失速を防ぐため、難易度の高い応用課題や外部認定試験への挑戦で学習意欲を維持する。</a:t>
            </a:r>
          </a:p>
        </p:txBody>
      </p:sp>
      <p:sp>
        <p:nvSpPr>
          <p:cNvPr id="27" name="Rectangle 26"/>
          <p:cNvSpPr/>
          <p:nvPr/>
        </p:nvSpPr>
        <p:spPr>
          <a:xfrm>
            <a:off x="274320" y="5486400"/>
            <a:ext cx="502920" cy="9601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5742432"/>
            <a:ext cx="502920" cy="457200"/>
          </a:xfrm>
          <a:prstGeom prst="rect">
            <a:avLst/>
          </a:prstGeom>
          <a:noFill/>
        </p:spPr>
        <p:txBody>
          <a:bodyPr wrap="square">
            <a:spAutoFit/>
          </a:bodyPr>
          <a:lstStyle/>
          <a:p>
            <a:pPr algn="ctr"/>
            <a:r>
              <a:rPr sz="1100" b="1" i="0">
                <a:solidFill>
                  <a:srgbClr val="FFFFFF"/>
                </a:solidFill>
                <a:latin typeface="游ゴシック"/>
              </a:rPr>
              <a:t>★</a:t>
            </a:r>
          </a:p>
        </p:txBody>
      </p:sp>
      <p:sp>
        <p:nvSpPr>
          <p:cNvPr id="29" name="Rectangle 28"/>
          <p:cNvSpPr/>
          <p:nvPr/>
        </p:nvSpPr>
        <p:spPr>
          <a:xfrm>
            <a:off x="822960" y="5486400"/>
            <a:ext cx="1106424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541264"/>
            <a:ext cx="10789920" cy="365760"/>
          </a:xfrm>
          <a:prstGeom prst="rect">
            <a:avLst/>
          </a:prstGeom>
          <a:noFill/>
        </p:spPr>
        <p:txBody>
          <a:bodyPr wrap="square">
            <a:spAutoFit/>
          </a:bodyPr>
          <a:lstStyle/>
          <a:p>
            <a:pPr algn="l"/>
            <a:r>
              <a:rPr sz="1300" b="1" i="0">
                <a:solidFill>
                  <a:srgbClr val="1A2F5E"/>
                </a:solidFill>
                <a:latin typeface="游ゴシック"/>
              </a:rPr>
              <a:t>開発・管理のナレッジを全社横展開</a:t>
            </a:r>
          </a:p>
        </p:txBody>
      </p:sp>
      <p:sp>
        <p:nvSpPr>
          <p:cNvPr id="31" name="TextBox 30"/>
          <p:cNvSpPr txBox="1"/>
          <p:nvPr/>
        </p:nvSpPr>
        <p:spPr>
          <a:xfrm>
            <a:off x="960120" y="5925312"/>
            <a:ext cx="10789920" cy="502920"/>
          </a:xfrm>
          <a:prstGeom prst="rect">
            <a:avLst/>
          </a:prstGeom>
          <a:noFill/>
        </p:spPr>
        <p:txBody>
          <a:bodyPr wrap="square">
            <a:spAutoFit/>
          </a:bodyPr>
          <a:lstStyle/>
          <a:p>
            <a:pPr algn="l"/>
            <a:r>
              <a:rPr sz="1100" b="0" i="0">
                <a:solidFill>
                  <a:srgbClr val="444444"/>
                </a:solidFill>
                <a:latin typeface="游ゴシック"/>
              </a:rPr>
              <a:t>高スコア・低ばらつきの両部門のメソッドをマニュアル・社内勉強会として可視化。特に営業・人事への水平展開が全体平均を84.9点→90点へ押し上げる近道となる。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